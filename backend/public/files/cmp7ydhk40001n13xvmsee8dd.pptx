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E50"/>
        </a:solidFill>
      </p:bgPr>
    </p:bg>
    <p:spTree>
      <p:nvGrpSpPr>
        <p:cNvPr id="1" name=""/>
        <p:cNvGrpSpPr/>
        <p:nvPr/>
      </p:nvGrpSpPr>
      <p:grpSpPr>
        <a:xfrm>
          <a:off x="0" y="0"/>
          <a:ext cx="0" cy="0"/>
          <a:chOff x="0" y="0"/>
          <a:chExt cx="0" cy="0"/>
        </a:xfrm>
      </p:grpSpPr>
      <p:sp>
        <p:nvSpPr>
          <p:cNvPr id="2" name="Text 0"/>
          <p:cNvSpPr/>
          <p:nvPr/>
        </p:nvSpPr>
        <p:spPr>
          <a:xfrm>
            <a:off x="457200" y="4846320"/>
            <a:ext cx="8229600" cy="274320"/>
          </a:xfrm>
          <a:prstGeom prst="rect">
            <a:avLst/>
          </a:prstGeom>
          <a:noFill/>
          <a:ln/>
        </p:spPr>
        <p:txBody>
          <a:bodyPr wrap="square" rtlCol="0" anchor="ctr"/>
          <a:lstStyle/>
          <a:p>
            <a:pPr algn="r" indent="0" marL="0">
              <a:buNone/>
            </a:pPr>
            <a:r>
              <a:rPr lang="en-US" sz="1000" dirty="0">
                <a:solidFill>
                  <a:srgbClr val="2D3E50"/>
                </a:solidFill>
              </a:rPr>
              <a:t>Photosynthesis</a:t>
            </a:r>
            <a:endParaRPr lang="en-US" sz="1000" dirty="0"/>
          </a:p>
        </p:txBody>
      </p:sp>
      <p:sp>
        <p:nvSpPr>
          <p:cNvPr id="3" name="Text 1"/>
          <p:cNvSpPr/>
          <p:nvPr/>
        </p:nvSpPr>
        <p:spPr>
          <a:xfrm>
            <a:off x="914400" y="1828800"/>
            <a:ext cx="7315200" cy="13716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Photosynthesis: How Plants Make Food</a:t>
            </a:r>
            <a:endParaRPr lang="en-US" sz="4400" dirty="0"/>
          </a:p>
        </p:txBody>
      </p:sp>
      <p:sp>
        <p:nvSpPr>
          <p:cNvPr id="4" name="Text 2"/>
          <p:cNvSpPr/>
          <p:nvPr/>
        </p:nvSpPr>
        <p:spPr>
          <a:xfrm>
            <a:off x="914400" y="3200400"/>
            <a:ext cx="7315200" cy="457200"/>
          </a:xfrm>
          <a:prstGeom prst="rect">
            <a:avLst/>
          </a:prstGeom>
          <a:noFill/>
          <a:ln/>
        </p:spPr>
        <p:txBody>
          <a:bodyPr wrap="square" rtlCol="0" anchor="ctr"/>
          <a:lstStyle/>
          <a:p>
            <a:pPr algn="ctr" indent="0" marL="0">
              <a:buNone/>
            </a:pPr>
            <a:r>
              <a:rPr lang="en-US" sz="2000" i="1" dirty="0">
                <a:solidFill>
                  <a:srgbClr val="3498DB"/>
                </a:solidFill>
              </a:rPr>
              <a:t>Unlocking the secret behind how plants create energy and sustain life on Earth!</a:t>
            </a:r>
            <a:endParaRPr lang="en-US" sz="2000" dirty="0"/>
          </a:p>
        </p:txBody>
      </p:sp>
      <p:sp>
        <p:nvSpPr>
          <p:cNvPr id="5" name="Text 3"/>
          <p:cNvSpPr/>
          <p:nvPr/>
        </p:nvSpPr>
        <p:spPr>
          <a:xfrm>
            <a:off x="914400" y="4114800"/>
            <a:ext cx="7315200" cy="274320"/>
          </a:xfrm>
          <a:prstGeom prst="rect">
            <a:avLst/>
          </a:prstGeom>
          <a:noFill/>
          <a:ln/>
        </p:spPr>
        <p:txBody>
          <a:bodyPr wrap="square" rtlCol="0" anchor="ctr"/>
          <a:lstStyle/>
          <a:p>
            <a:pPr algn="ctr" indent="0" marL="0">
              <a:buNone/>
            </a:pPr>
            <a:r>
              <a:rPr lang="en-US" sz="1400" dirty="0">
                <a:solidFill>
                  <a:srgbClr val="FFFFFF"/>
                </a:solidFill>
              </a:rPr>
              <a:t>Grade 8</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846320"/>
            <a:ext cx="8229600" cy="274320"/>
          </a:xfrm>
          <a:prstGeom prst="rect">
            <a:avLst/>
          </a:prstGeom>
          <a:noFill/>
          <a:ln/>
        </p:spPr>
        <p:txBody>
          <a:bodyPr wrap="square" rtlCol="0" anchor="ctr"/>
          <a:lstStyle/>
          <a:p>
            <a:pPr algn="r" indent="0" marL="0">
              <a:buNone/>
            </a:pPr>
            <a:r>
              <a:rPr lang="en-US" sz="1000" dirty="0">
                <a:solidFill>
                  <a:srgbClr val="2D3E50"/>
                </a:solidFill>
              </a:rPr>
              <a:t>Photosynthesis</a:t>
            </a:r>
            <a:endParaRPr lang="en-US" sz="1000" dirty="0"/>
          </a:p>
        </p:txBody>
      </p:sp>
      <p:sp>
        <p:nvSpPr>
          <p:cNvPr id="3" name="Text 1"/>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D3E50"/>
                </a:solidFill>
                <a:latin typeface="Arial" pitchFamily="34" charset="0"/>
                <a:ea typeface="Arial" pitchFamily="34" charset="-122"/>
                <a:cs typeface="Arial" pitchFamily="34" charset="-120"/>
              </a:rPr>
              <a:t>What is Photosynthesis?</a:t>
            </a:r>
            <a:endParaRPr lang="en-US" sz="3200" dirty="0"/>
          </a:p>
        </p:txBody>
      </p:sp>
      <p:sp>
        <p:nvSpPr>
          <p:cNvPr id="4" name="Text 2"/>
          <p:cNvSpPr/>
          <p:nvPr/>
        </p:nvSpPr>
        <p:spPr>
          <a:xfrm>
            <a:off x="731520" y="1371600"/>
            <a:ext cx="7772400" cy="457200"/>
          </a:xfrm>
          <a:prstGeom prst="rect">
            <a:avLst/>
          </a:prstGeom>
          <a:noFill/>
          <a:ln/>
        </p:spPr>
        <p:txBody>
          <a:bodyPr wrap="square" rtlCol="0" anchor="ctr"/>
          <a:lstStyle/>
          <a:p>
            <a:pPr marL="342900" indent="-342900">
              <a:buSzPct val="100000"/>
              <a:buChar char="•"/>
            </a:pPr>
            <a:r>
              <a:rPr lang="en-US" sz="1800" dirty="0">
                <a:solidFill>
                  <a:srgbClr val="2C3E50"/>
                </a:solidFill>
                <a:latin typeface="Verdana" pitchFamily="34" charset="0"/>
                <a:ea typeface="Verdana" pitchFamily="34" charset="-122"/>
                <a:cs typeface="Verdana" pitchFamily="34" charset="-120"/>
              </a:rPr>
              <a:t>The process plants use to make their own food.</a:t>
            </a:r>
            <a:endParaRPr lang="en-US" sz="1800" dirty="0"/>
          </a:p>
        </p:txBody>
      </p:sp>
      <p:sp>
        <p:nvSpPr>
          <p:cNvPr id="5" name="Text 3"/>
          <p:cNvSpPr/>
          <p:nvPr/>
        </p:nvSpPr>
        <p:spPr>
          <a:xfrm>
            <a:off x="731520" y="1920240"/>
            <a:ext cx="7772400" cy="457200"/>
          </a:xfrm>
          <a:prstGeom prst="rect">
            <a:avLst/>
          </a:prstGeom>
          <a:noFill/>
          <a:ln/>
        </p:spPr>
        <p:txBody>
          <a:bodyPr wrap="square" rtlCol="0" anchor="ctr"/>
          <a:lstStyle/>
          <a:p>
            <a:pPr marL="342900" indent="-342900">
              <a:buSzPct val="100000"/>
              <a:buChar char="•"/>
            </a:pPr>
            <a:r>
              <a:rPr lang="en-US" sz="1800" dirty="0">
                <a:solidFill>
                  <a:srgbClr val="2C3E50"/>
                </a:solidFill>
                <a:latin typeface="Verdana" pitchFamily="34" charset="0"/>
                <a:ea typeface="Verdana" pitchFamily="34" charset="-122"/>
                <a:cs typeface="Verdana" pitchFamily="34" charset="-120"/>
              </a:rPr>
              <a:t>Uses sunlight, water, and carbon dioxide.</a:t>
            </a:r>
            <a:endParaRPr lang="en-US" sz="1800" dirty="0"/>
          </a:p>
        </p:txBody>
      </p:sp>
      <p:sp>
        <p:nvSpPr>
          <p:cNvPr id="6" name="Text 4"/>
          <p:cNvSpPr/>
          <p:nvPr/>
        </p:nvSpPr>
        <p:spPr>
          <a:xfrm>
            <a:off x="731520" y="2468880"/>
            <a:ext cx="7772400" cy="457200"/>
          </a:xfrm>
          <a:prstGeom prst="rect">
            <a:avLst/>
          </a:prstGeom>
          <a:noFill/>
          <a:ln/>
        </p:spPr>
        <p:txBody>
          <a:bodyPr wrap="square" rtlCol="0" anchor="ctr"/>
          <a:lstStyle/>
          <a:p>
            <a:pPr marL="342900" indent="-342900">
              <a:buSzPct val="100000"/>
              <a:buChar char="•"/>
            </a:pPr>
            <a:r>
              <a:rPr lang="en-US" sz="1800" dirty="0">
                <a:solidFill>
                  <a:srgbClr val="2C3E50"/>
                </a:solidFill>
                <a:latin typeface="Verdana" pitchFamily="34" charset="0"/>
                <a:ea typeface="Verdana" pitchFamily="34" charset="-122"/>
                <a:cs typeface="Verdana" pitchFamily="34" charset="-120"/>
              </a:rPr>
              <a:t>Chlorophyll (the green pigment) helps capture sunlight.</a:t>
            </a:r>
            <a:endParaRPr lang="en-US" sz="1800" dirty="0"/>
          </a:p>
        </p:txBody>
      </p:sp>
      <p:sp>
        <p:nvSpPr>
          <p:cNvPr id="7" name="Text 5"/>
          <p:cNvSpPr/>
          <p:nvPr/>
        </p:nvSpPr>
        <p:spPr>
          <a:xfrm>
            <a:off x="731520" y="3017520"/>
            <a:ext cx="7772400" cy="457200"/>
          </a:xfrm>
          <a:prstGeom prst="rect">
            <a:avLst/>
          </a:prstGeom>
          <a:noFill/>
          <a:ln/>
        </p:spPr>
        <p:txBody>
          <a:bodyPr wrap="square" rtlCol="0" anchor="ctr"/>
          <a:lstStyle/>
          <a:p>
            <a:pPr marL="342900" indent="-342900">
              <a:buSzPct val="100000"/>
              <a:buChar char="•"/>
            </a:pPr>
            <a:r>
              <a:rPr lang="en-US" sz="1800" dirty="0">
                <a:solidFill>
                  <a:srgbClr val="2C3E50"/>
                </a:solidFill>
                <a:latin typeface="Verdana" pitchFamily="34" charset="0"/>
                <a:ea typeface="Verdana" pitchFamily="34" charset="-122"/>
                <a:cs typeface="Verdana" pitchFamily="34" charset="-120"/>
              </a:rPr>
              <a:t>Produces sugar (food) for the plant and releases oxygen.</a:t>
            </a:r>
            <a:endParaRPr lang="en-US" sz="1800" dirty="0"/>
          </a:p>
        </p:txBody>
      </p:sp>
      <p:sp>
        <p:nvSpPr>
          <p:cNvPr id="8" name="Shape 6"/>
          <p:cNvSpPr/>
          <p:nvPr/>
        </p:nvSpPr>
        <p:spPr>
          <a:xfrm>
            <a:off x="457200" y="3840480"/>
            <a:ext cx="8229600" cy="731520"/>
          </a:xfrm>
          <a:prstGeom prst="rect">
            <a:avLst/>
          </a:prstGeom>
          <a:solidFill>
            <a:srgbClr val="F1F1F1"/>
          </a:solidFill>
          <a:ln/>
        </p:spPr>
      </p:sp>
      <p:sp>
        <p:nvSpPr>
          <p:cNvPr id="9" name="Text 7"/>
          <p:cNvSpPr/>
          <p:nvPr/>
        </p:nvSpPr>
        <p:spPr>
          <a:xfrm>
            <a:off x="548640" y="3840480"/>
            <a:ext cx="8046720" cy="731520"/>
          </a:xfrm>
          <a:prstGeom prst="rect">
            <a:avLst/>
          </a:prstGeom>
          <a:noFill/>
          <a:ln/>
        </p:spPr>
        <p:txBody>
          <a:bodyPr wrap="square" rtlCol="0" anchor="ctr"/>
          <a:lstStyle/>
          <a:p>
            <a:pPr indent="0" marL="0">
              <a:buNone/>
            </a:pPr>
            <a:r>
              <a:rPr lang="en-US" sz="1400" i="1" dirty="0">
                <a:solidFill>
                  <a:srgbClr val="2D3E50"/>
                </a:solidFill>
              </a:rPr>
              <a:t>Photosynthesis is how green plants and some other organisms turn light energy into chemical energy. They use sunlight, water, and carbon dioxide to create sugars, which serve as their food, while also releasing oxygen into the atmosphere. This amazing process is fundamental for most life on Earth.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846320"/>
            <a:ext cx="8229600" cy="274320"/>
          </a:xfrm>
          <a:prstGeom prst="rect">
            <a:avLst/>
          </a:prstGeom>
          <a:noFill/>
          <a:ln/>
        </p:spPr>
        <p:txBody>
          <a:bodyPr wrap="square" rtlCol="0" anchor="ctr"/>
          <a:lstStyle/>
          <a:p>
            <a:pPr algn="r" indent="0" marL="0">
              <a:buNone/>
            </a:pPr>
            <a:r>
              <a:rPr lang="en-US" sz="1000" dirty="0">
                <a:solidFill>
                  <a:srgbClr val="2D3E50"/>
                </a:solidFill>
              </a:rPr>
              <a:t>Photosynthesis</a:t>
            </a:r>
            <a:endParaRPr lang="en-US" sz="1000" dirty="0"/>
          </a:p>
        </p:txBody>
      </p:sp>
      <p:sp>
        <p:nvSpPr>
          <p:cNvPr id="3" name="Text 1"/>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D3E50"/>
                </a:solidFill>
                <a:latin typeface="Arial" pitchFamily="34" charset="0"/>
                <a:ea typeface="Arial" pitchFamily="34" charset="-122"/>
                <a:cs typeface="Arial" pitchFamily="34" charset="-120"/>
              </a:rPr>
              <a:t>The 'Ingredients' for Life</a:t>
            </a:r>
            <a:endParaRPr lang="en-US" sz="3200" dirty="0"/>
          </a:p>
        </p:txBody>
      </p:sp>
      <p:sp>
        <p:nvSpPr>
          <p:cNvPr id="4" name="Text 2"/>
          <p:cNvSpPr/>
          <p:nvPr/>
        </p:nvSpPr>
        <p:spPr>
          <a:xfrm>
            <a:off x="731520" y="1371600"/>
            <a:ext cx="7772400" cy="457200"/>
          </a:xfrm>
          <a:prstGeom prst="rect">
            <a:avLst/>
          </a:prstGeom>
          <a:noFill/>
          <a:ln/>
        </p:spPr>
        <p:txBody>
          <a:bodyPr wrap="square" rtlCol="0" anchor="ctr"/>
          <a:lstStyle/>
          <a:p>
            <a:pPr marL="342900" indent="-342900">
              <a:buSzPct val="100000"/>
              <a:buChar char="•"/>
            </a:pPr>
            <a:r>
              <a:rPr lang="en-US" sz="1800" dirty="0">
                <a:solidFill>
                  <a:srgbClr val="2C3E50"/>
                </a:solidFill>
                <a:latin typeface="Verdana" pitchFamily="34" charset="0"/>
                <a:ea typeface="Verdana" pitchFamily="34" charset="-122"/>
                <a:cs typeface="Verdana" pitchFamily="34" charset="-120"/>
              </a:rPr>
              <a:t>Carbon Dioxide: A gas from the air we breathe out.</a:t>
            </a:r>
            <a:endParaRPr lang="en-US" sz="1800" dirty="0"/>
          </a:p>
        </p:txBody>
      </p:sp>
      <p:sp>
        <p:nvSpPr>
          <p:cNvPr id="5" name="Text 3"/>
          <p:cNvSpPr/>
          <p:nvPr/>
        </p:nvSpPr>
        <p:spPr>
          <a:xfrm>
            <a:off x="731520" y="1920240"/>
            <a:ext cx="7772400" cy="457200"/>
          </a:xfrm>
          <a:prstGeom prst="rect">
            <a:avLst/>
          </a:prstGeom>
          <a:noFill/>
          <a:ln/>
        </p:spPr>
        <p:txBody>
          <a:bodyPr wrap="square" rtlCol="0" anchor="ctr"/>
          <a:lstStyle/>
          <a:p>
            <a:pPr marL="342900" indent="-342900">
              <a:buSzPct val="100000"/>
              <a:buChar char="•"/>
            </a:pPr>
            <a:r>
              <a:rPr lang="en-US" sz="1800" dirty="0">
                <a:solidFill>
                  <a:srgbClr val="2C3E50"/>
                </a:solidFill>
                <a:latin typeface="Verdana" pitchFamily="34" charset="0"/>
                <a:ea typeface="Verdana" pitchFamily="34" charset="-122"/>
                <a:cs typeface="Verdana" pitchFamily="34" charset="-120"/>
              </a:rPr>
              <a:t>Water: Absorbed from the soil through roots.</a:t>
            </a:r>
            <a:endParaRPr lang="en-US" sz="1800" dirty="0"/>
          </a:p>
        </p:txBody>
      </p:sp>
      <p:sp>
        <p:nvSpPr>
          <p:cNvPr id="6" name="Text 4"/>
          <p:cNvSpPr/>
          <p:nvPr/>
        </p:nvSpPr>
        <p:spPr>
          <a:xfrm>
            <a:off x="731520" y="2468880"/>
            <a:ext cx="7772400" cy="457200"/>
          </a:xfrm>
          <a:prstGeom prst="rect">
            <a:avLst/>
          </a:prstGeom>
          <a:noFill/>
          <a:ln/>
        </p:spPr>
        <p:txBody>
          <a:bodyPr wrap="square" rtlCol="0" anchor="ctr"/>
          <a:lstStyle/>
          <a:p>
            <a:pPr marL="342900" indent="-342900">
              <a:buSzPct val="100000"/>
              <a:buChar char="•"/>
            </a:pPr>
            <a:r>
              <a:rPr lang="en-US" sz="1800" dirty="0">
                <a:solidFill>
                  <a:srgbClr val="2C3E50"/>
                </a:solidFill>
                <a:latin typeface="Verdana" pitchFamily="34" charset="0"/>
                <a:ea typeface="Verdana" pitchFamily="34" charset="-122"/>
                <a:cs typeface="Verdana" pitchFamily="34" charset="-120"/>
              </a:rPr>
              <a:t>Sunlight: Energy captured from the sun.</a:t>
            </a:r>
            <a:endParaRPr lang="en-US" sz="1800" dirty="0"/>
          </a:p>
        </p:txBody>
      </p:sp>
      <p:sp>
        <p:nvSpPr>
          <p:cNvPr id="7" name="Shape 5"/>
          <p:cNvSpPr/>
          <p:nvPr/>
        </p:nvSpPr>
        <p:spPr>
          <a:xfrm>
            <a:off x="457200" y="3840480"/>
            <a:ext cx="8229600" cy="731520"/>
          </a:xfrm>
          <a:prstGeom prst="rect">
            <a:avLst/>
          </a:prstGeom>
          <a:solidFill>
            <a:srgbClr val="F1F1F1"/>
          </a:solidFill>
          <a:ln/>
        </p:spPr>
      </p:sp>
      <p:sp>
        <p:nvSpPr>
          <p:cNvPr id="8" name="Text 6"/>
          <p:cNvSpPr/>
          <p:nvPr/>
        </p:nvSpPr>
        <p:spPr>
          <a:xfrm>
            <a:off x="548640" y="3840480"/>
            <a:ext cx="8046720" cy="731520"/>
          </a:xfrm>
          <a:prstGeom prst="rect">
            <a:avLst/>
          </a:prstGeom>
          <a:noFill/>
          <a:ln/>
        </p:spPr>
        <p:txBody>
          <a:bodyPr wrap="square" rtlCol="0" anchor="ctr"/>
          <a:lstStyle/>
          <a:p>
            <a:pPr indent="0" marL="0">
              <a:buNone/>
            </a:pPr>
            <a:r>
              <a:rPr lang="en-US" sz="1400" i="1" dirty="0">
                <a:solidFill>
                  <a:srgbClr val="2D3E50"/>
                </a:solidFill>
              </a:rPr>
              <a:t>Just like baking a cake needs specific ingredients, plants need three main things to make their food: carbon dioxide, water, and sunlight. These essential components are combined during photosynthesis to create glucose (sugar) and oxygen, which are vital for the plant's survival and for supporting other life on Earth.</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846320"/>
            <a:ext cx="8229600" cy="274320"/>
          </a:xfrm>
          <a:prstGeom prst="rect">
            <a:avLst/>
          </a:prstGeom>
          <a:noFill/>
          <a:ln/>
        </p:spPr>
        <p:txBody>
          <a:bodyPr wrap="square" rtlCol="0" anchor="ctr"/>
          <a:lstStyle/>
          <a:p>
            <a:pPr algn="r" indent="0" marL="0">
              <a:buNone/>
            </a:pPr>
            <a:r>
              <a:rPr lang="en-US" sz="1000" dirty="0">
                <a:solidFill>
                  <a:srgbClr val="2D3E50"/>
                </a:solidFill>
              </a:rPr>
              <a:t>Photosynthesis</a:t>
            </a:r>
            <a:endParaRPr lang="en-US" sz="1000" dirty="0"/>
          </a:p>
        </p:txBody>
      </p:sp>
      <p:sp>
        <p:nvSpPr>
          <p:cNvPr id="3" name="Text 1"/>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D3E50"/>
                </a:solidFill>
                <a:latin typeface="Arial" pitchFamily="34" charset="0"/>
                <a:ea typeface="Arial" pitchFamily="34" charset="-122"/>
                <a:cs typeface="Arial" pitchFamily="34" charset="-120"/>
              </a:rPr>
              <a:t>The Photosynthesis 'Kitchen'</a:t>
            </a:r>
            <a:endParaRPr lang="en-US" sz="3200" dirty="0"/>
          </a:p>
        </p:txBody>
      </p:sp>
      <p:sp>
        <p:nvSpPr>
          <p:cNvPr id="4" name="Text 2"/>
          <p:cNvSpPr/>
          <p:nvPr/>
        </p:nvSpPr>
        <p:spPr>
          <a:xfrm>
            <a:off x="731520" y="1371600"/>
            <a:ext cx="7772400" cy="457200"/>
          </a:xfrm>
          <a:prstGeom prst="rect">
            <a:avLst/>
          </a:prstGeom>
          <a:noFill/>
          <a:ln/>
        </p:spPr>
        <p:txBody>
          <a:bodyPr wrap="square" rtlCol="0" anchor="ctr"/>
          <a:lstStyle/>
          <a:p>
            <a:pPr marL="342900" indent="-342900">
              <a:buSzPct val="100000"/>
              <a:buChar char="•"/>
            </a:pPr>
            <a:r>
              <a:rPr lang="en-US" sz="1800" dirty="0">
                <a:solidFill>
                  <a:srgbClr val="2C3E50"/>
                </a:solidFill>
                <a:latin typeface="Verdana" pitchFamily="34" charset="0"/>
                <a:ea typeface="Verdana" pitchFamily="34" charset="-122"/>
                <a:cs typeface="Verdana" pitchFamily="34" charset="-120"/>
              </a:rPr>
              <a:t>Photosynthesis happens inside plant cells, in specialized structures called chloroplasts.</a:t>
            </a:r>
            <a:endParaRPr lang="en-US" sz="1800" dirty="0"/>
          </a:p>
        </p:txBody>
      </p:sp>
      <p:sp>
        <p:nvSpPr>
          <p:cNvPr id="5" name="Text 3"/>
          <p:cNvSpPr/>
          <p:nvPr/>
        </p:nvSpPr>
        <p:spPr>
          <a:xfrm>
            <a:off x="731520" y="1920240"/>
            <a:ext cx="7772400" cy="457200"/>
          </a:xfrm>
          <a:prstGeom prst="rect">
            <a:avLst/>
          </a:prstGeom>
          <a:noFill/>
          <a:ln/>
        </p:spPr>
        <p:txBody>
          <a:bodyPr wrap="square" rtlCol="0" anchor="ctr"/>
          <a:lstStyle/>
          <a:p>
            <a:pPr marL="342900" indent="-342900">
              <a:buSzPct val="100000"/>
              <a:buChar char="•"/>
            </a:pPr>
            <a:r>
              <a:rPr lang="en-US" sz="1800" dirty="0">
                <a:solidFill>
                  <a:srgbClr val="2C3E50"/>
                </a:solidFill>
                <a:latin typeface="Verdana" pitchFamily="34" charset="0"/>
                <a:ea typeface="Verdana" pitchFamily="34" charset="-122"/>
                <a:cs typeface="Verdana" pitchFamily="34" charset="-120"/>
              </a:rPr>
              <a:t>Think of chloroplasts as the 'kitchens' where plants prepare their food.</a:t>
            </a:r>
            <a:endParaRPr lang="en-US" sz="1800" dirty="0"/>
          </a:p>
        </p:txBody>
      </p:sp>
      <p:sp>
        <p:nvSpPr>
          <p:cNvPr id="6" name="Text 4"/>
          <p:cNvSpPr/>
          <p:nvPr/>
        </p:nvSpPr>
        <p:spPr>
          <a:xfrm>
            <a:off x="731520" y="2468880"/>
            <a:ext cx="7772400" cy="457200"/>
          </a:xfrm>
          <a:prstGeom prst="rect">
            <a:avLst/>
          </a:prstGeom>
          <a:noFill/>
          <a:ln/>
        </p:spPr>
        <p:txBody>
          <a:bodyPr wrap="square" rtlCol="0" anchor="ctr"/>
          <a:lstStyle/>
          <a:p>
            <a:pPr marL="342900" indent="-342900">
              <a:buSzPct val="100000"/>
              <a:buChar char="•"/>
            </a:pPr>
            <a:r>
              <a:rPr lang="en-US" sz="1800" dirty="0">
                <a:solidFill>
                  <a:srgbClr val="2C3E50"/>
                </a:solidFill>
                <a:latin typeface="Verdana" pitchFamily="34" charset="0"/>
                <a:ea typeface="Verdana" pitchFamily="34" charset="-122"/>
                <a:cs typeface="Verdana" pitchFamily="34" charset="-120"/>
              </a:rPr>
              <a:t>Within these chloroplasts is a green pigment called chlorophyll.</a:t>
            </a:r>
            <a:endParaRPr lang="en-US" sz="1800" dirty="0"/>
          </a:p>
        </p:txBody>
      </p:sp>
      <p:sp>
        <p:nvSpPr>
          <p:cNvPr id="7" name="Text 5"/>
          <p:cNvSpPr/>
          <p:nvPr/>
        </p:nvSpPr>
        <p:spPr>
          <a:xfrm>
            <a:off x="731520" y="3017520"/>
            <a:ext cx="7772400" cy="457200"/>
          </a:xfrm>
          <a:prstGeom prst="rect">
            <a:avLst/>
          </a:prstGeom>
          <a:noFill/>
          <a:ln/>
        </p:spPr>
        <p:txBody>
          <a:bodyPr wrap="square" rtlCol="0" anchor="ctr"/>
          <a:lstStyle/>
          <a:p>
            <a:pPr marL="342900" indent="-342900">
              <a:buSzPct val="100000"/>
              <a:buChar char="•"/>
            </a:pPr>
            <a:r>
              <a:rPr lang="en-US" sz="1800" dirty="0">
                <a:solidFill>
                  <a:srgbClr val="2C3E50"/>
                </a:solidFill>
                <a:latin typeface="Verdana" pitchFamily="34" charset="0"/>
                <a:ea typeface="Verdana" pitchFamily="34" charset="-122"/>
                <a:cs typeface="Verdana" pitchFamily="34" charset="-120"/>
              </a:rPr>
              <a:t>Chlorophyll is vital because it's the ingredient that captures energy from sunlight.</a:t>
            </a:r>
            <a:endParaRPr lang="en-US" sz="1800" dirty="0"/>
          </a:p>
        </p:txBody>
      </p:sp>
      <p:sp>
        <p:nvSpPr>
          <p:cNvPr id="8" name="Shape 6"/>
          <p:cNvSpPr/>
          <p:nvPr/>
        </p:nvSpPr>
        <p:spPr>
          <a:xfrm>
            <a:off x="457200" y="3840480"/>
            <a:ext cx="8229600" cy="731520"/>
          </a:xfrm>
          <a:prstGeom prst="rect">
            <a:avLst/>
          </a:prstGeom>
          <a:solidFill>
            <a:srgbClr val="F1F1F1"/>
          </a:solidFill>
          <a:ln/>
        </p:spPr>
      </p:sp>
      <p:sp>
        <p:nvSpPr>
          <p:cNvPr id="9" name="Text 7"/>
          <p:cNvSpPr/>
          <p:nvPr/>
        </p:nvSpPr>
        <p:spPr>
          <a:xfrm>
            <a:off x="548640" y="3840480"/>
            <a:ext cx="8046720" cy="731520"/>
          </a:xfrm>
          <a:prstGeom prst="rect">
            <a:avLst/>
          </a:prstGeom>
          <a:noFill/>
          <a:ln/>
        </p:spPr>
        <p:txBody>
          <a:bodyPr wrap="square" rtlCol="0" anchor="ctr"/>
          <a:lstStyle/>
          <a:p>
            <a:pPr indent="0" marL="0">
              <a:buNone/>
            </a:pPr>
            <a:r>
              <a:rPr lang="en-US" sz="1400" i="1" dirty="0">
                <a:solidFill>
                  <a:srgbClr val="2D3E50"/>
                </a:solidFill>
              </a:rPr>
              <a:t>Just like a kitchen is where food is prepared in your home, chloroplasts are the specific organelles within plant cells where photosynthesis takes place. These tiny 'kitchens' are packed with chlorophyll, the green pigment responsible for absorbing sunlight and kickstarting the entire food-making process.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846320"/>
            <a:ext cx="8229600" cy="274320"/>
          </a:xfrm>
          <a:prstGeom prst="rect">
            <a:avLst/>
          </a:prstGeom>
          <a:noFill/>
          <a:ln/>
        </p:spPr>
        <p:txBody>
          <a:bodyPr wrap="square" rtlCol="0" anchor="ctr"/>
          <a:lstStyle/>
          <a:p>
            <a:pPr algn="r" indent="0" marL="0">
              <a:buNone/>
            </a:pPr>
            <a:r>
              <a:rPr lang="en-US" sz="1000" dirty="0">
                <a:solidFill>
                  <a:srgbClr val="2D3E50"/>
                </a:solidFill>
              </a:rPr>
              <a:t>Photosynthesis</a:t>
            </a:r>
            <a:endParaRPr lang="en-US" sz="1000" dirty="0"/>
          </a:p>
        </p:txBody>
      </p:sp>
      <p:sp>
        <p:nvSpPr>
          <p:cNvPr id="3" name="Text 1"/>
          <p:cNvSpPr/>
          <p:nvPr/>
        </p:nvSpPr>
        <p:spPr>
          <a:xfrm>
            <a:off x="457200" y="457200"/>
            <a:ext cx="8229600" cy="0"/>
          </a:xfrm>
          <a:prstGeom prst="rect">
            <a:avLst/>
          </a:prstGeom>
          <a:noFill/>
          <a:ln/>
        </p:spPr>
        <p:txBody>
          <a:bodyPr wrap="square" rtlCol="0" anchor="ctr"/>
          <a:lstStyle/>
          <a:p>
            <a:pPr indent="0" marL="0">
              <a:buNone/>
            </a:pPr>
            <a:r>
              <a:rPr lang="en-US" sz="3200" b="1" dirty="0">
                <a:solidFill>
                  <a:srgbClr val="2D3E50"/>
                </a:solidFill>
              </a:rPr>
              <a:t>The Photosynthesis Recipe</a:t>
            </a:r>
            <a:endParaRPr lang="en-US" sz="3200" dirty="0"/>
          </a:p>
        </p:txBody>
      </p:sp>
      <p:sp>
        <p:nvSpPr>
          <p:cNvPr id="4" name="Shape 2"/>
          <p:cNvSpPr/>
          <p:nvPr/>
        </p:nvSpPr>
        <p:spPr>
          <a:xfrm>
            <a:off x="914400" y="1371600"/>
            <a:ext cx="7315200" cy="914400"/>
          </a:xfrm>
          <a:prstGeom prst="rect">
            <a:avLst/>
          </a:prstGeom>
          <a:solidFill>
            <a:srgbClr val="2C3E50"/>
          </a:solidFill>
          <a:ln/>
        </p:spPr>
      </p:sp>
      <p:sp>
        <p:nvSpPr>
          <p:cNvPr id="5" name="Text 3"/>
          <p:cNvSpPr/>
          <p:nvPr/>
        </p:nvSpPr>
        <p:spPr>
          <a:xfrm>
            <a:off x="914400" y="1371600"/>
            <a:ext cx="7315200" cy="914400"/>
          </a:xfrm>
          <a:prstGeom prst="rect">
            <a:avLst/>
          </a:prstGeom>
          <a:noFill/>
          <a:ln/>
        </p:spPr>
        <p:txBody>
          <a:bodyPr wrap="square" rtlCol="0" anchor="ctr"/>
          <a:lstStyle/>
          <a:p>
            <a:pPr algn="ctr" indent="0" marL="0">
              <a:buNone/>
            </a:pPr>
            <a:r>
              <a:rPr lang="en-US" sz="3600" b="1" dirty="0">
                <a:solidFill>
                  <a:srgbClr val="FFFFFF"/>
                </a:solidFill>
              </a:rPr>
              <a:t>Carbon Dioxide + Water + Sunlight -&gt; Glucose + Oxygen</a:t>
            </a:r>
            <a:endParaRPr lang="en-US" sz="3600" dirty="0"/>
          </a:p>
        </p:txBody>
      </p:sp>
      <p:sp>
        <p:nvSpPr>
          <p:cNvPr id="6" name="Text 4"/>
          <p:cNvSpPr/>
          <p:nvPr/>
        </p:nvSpPr>
        <p:spPr>
          <a:xfrm>
            <a:off x="914400" y="2560320"/>
            <a:ext cx="6858000" cy="0"/>
          </a:xfrm>
          <a:prstGeom prst="rect">
            <a:avLst/>
          </a:prstGeom>
          <a:noFill/>
          <a:ln/>
        </p:spPr>
        <p:txBody>
          <a:bodyPr wrap="square" rtlCol="0" anchor="ctr"/>
          <a:lstStyle/>
          <a:p>
            <a:pPr indent="0" marL="0">
              <a:buNone/>
            </a:pPr>
            <a:r>
              <a:rPr lang="en-US" sz="1600" b="1" dirty="0">
                <a:solidFill>
                  <a:srgbClr val="000000"/>
                </a:solidFill>
              </a:rPr>
              <a:t>Variables:</a:t>
            </a:r>
            <a:endParaRPr lang="en-US" sz="1600" dirty="0"/>
          </a:p>
        </p:txBody>
      </p:sp>
      <p:sp>
        <p:nvSpPr>
          <p:cNvPr id="7" name="Text 5"/>
          <p:cNvSpPr/>
          <p:nvPr/>
        </p:nvSpPr>
        <p:spPr>
          <a:xfrm>
            <a:off x="1097280" y="2926080"/>
            <a:ext cx="6858000" cy="0"/>
          </a:xfrm>
          <a:prstGeom prst="rect">
            <a:avLst/>
          </a:prstGeom>
          <a:noFill/>
          <a:ln/>
        </p:spPr>
        <p:txBody>
          <a:bodyPr wrap="square" rtlCol="0" anchor="ctr"/>
          <a:lstStyle/>
          <a:p>
            <a:pPr marL="342900" indent="-342900">
              <a:buSzPct val="100000"/>
              <a:buChar char="•"/>
            </a:pPr>
            <a:r>
              <a:rPr lang="en-US" sz="1400" dirty="0">
                <a:solidFill>
                  <a:srgbClr val="000000"/>
                </a:solidFill>
              </a:rPr>
              <a:t>Carbon Dioxide (CO2): A gas from the air that plants absorb through tiny pores in their leaves.</a:t>
            </a:r>
            <a:endParaRPr lang="en-US" sz="1400" dirty="0"/>
          </a:p>
        </p:txBody>
      </p:sp>
      <p:sp>
        <p:nvSpPr>
          <p:cNvPr id="8" name="Text 6"/>
          <p:cNvSpPr/>
          <p:nvPr/>
        </p:nvSpPr>
        <p:spPr>
          <a:xfrm>
            <a:off x="1097280" y="3291840"/>
            <a:ext cx="6858000" cy="0"/>
          </a:xfrm>
          <a:prstGeom prst="rect">
            <a:avLst/>
          </a:prstGeom>
          <a:noFill/>
          <a:ln/>
        </p:spPr>
        <p:txBody>
          <a:bodyPr wrap="square" rtlCol="0" anchor="ctr"/>
          <a:lstStyle/>
          <a:p>
            <a:pPr marL="342900" indent="-342900">
              <a:buSzPct val="100000"/>
              <a:buChar char="•"/>
            </a:pPr>
            <a:r>
              <a:rPr lang="en-US" sz="1400" dirty="0">
                <a:solidFill>
                  <a:srgbClr val="000000"/>
                </a:solidFill>
              </a:rPr>
              <a:t>Water (H2O): Absorbed by the plant's roots from the soil.</a:t>
            </a:r>
            <a:endParaRPr lang="en-US" sz="1400" dirty="0"/>
          </a:p>
        </p:txBody>
      </p:sp>
      <p:sp>
        <p:nvSpPr>
          <p:cNvPr id="9" name="Text 7"/>
          <p:cNvSpPr/>
          <p:nvPr/>
        </p:nvSpPr>
        <p:spPr>
          <a:xfrm>
            <a:off x="1097280" y="3657600"/>
            <a:ext cx="6858000" cy="0"/>
          </a:xfrm>
          <a:prstGeom prst="rect">
            <a:avLst/>
          </a:prstGeom>
          <a:noFill/>
          <a:ln/>
        </p:spPr>
        <p:txBody>
          <a:bodyPr wrap="square" rtlCol="0" anchor="ctr"/>
          <a:lstStyle/>
          <a:p>
            <a:pPr marL="342900" indent="-342900">
              <a:buSzPct val="100000"/>
              <a:buChar char="•"/>
            </a:pPr>
            <a:r>
              <a:rPr lang="en-US" sz="1400" dirty="0">
                <a:solidFill>
                  <a:srgbClr val="000000"/>
                </a:solidFill>
              </a:rPr>
              <a:t>Sunlight: The energy source that powers the entire process, captured by chlorophyll in the leaves.</a:t>
            </a:r>
            <a:endParaRPr lang="en-US" sz="1400" dirty="0"/>
          </a:p>
        </p:txBody>
      </p:sp>
      <p:sp>
        <p:nvSpPr>
          <p:cNvPr id="10" name="Text 8"/>
          <p:cNvSpPr/>
          <p:nvPr/>
        </p:nvSpPr>
        <p:spPr>
          <a:xfrm>
            <a:off x="1097280" y="4023360"/>
            <a:ext cx="6858000" cy="0"/>
          </a:xfrm>
          <a:prstGeom prst="rect">
            <a:avLst/>
          </a:prstGeom>
          <a:noFill/>
          <a:ln/>
        </p:spPr>
        <p:txBody>
          <a:bodyPr wrap="square" rtlCol="0" anchor="ctr"/>
          <a:lstStyle/>
          <a:p>
            <a:pPr marL="342900" indent="-342900">
              <a:buSzPct val="100000"/>
              <a:buChar char="•"/>
            </a:pPr>
            <a:r>
              <a:rPr lang="en-US" sz="1400" dirty="0">
                <a:solidFill>
                  <a:srgbClr val="000000"/>
                </a:solidFill>
              </a:rPr>
              <a:t>Glucose (C6H12O6): A type of sugar that serves as the plant's food, providing energy for growth and other functions.</a:t>
            </a:r>
            <a:endParaRPr lang="en-US" sz="1400" dirty="0"/>
          </a:p>
        </p:txBody>
      </p:sp>
      <p:sp>
        <p:nvSpPr>
          <p:cNvPr id="11" name="Text 9"/>
          <p:cNvSpPr/>
          <p:nvPr/>
        </p:nvSpPr>
        <p:spPr>
          <a:xfrm>
            <a:off x="1097280" y="4389120"/>
            <a:ext cx="6858000" cy="0"/>
          </a:xfrm>
          <a:prstGeom prst="rect">
            <a:avLst/>
          </a:prstGeom>
          <a:noFill/>
          <a:ln/>
        </p:spPr>
        <p:txBody>
          <a:bodyPr wrap="square" rtlCol="0" anchor="ctr"/>
          <a:lstStyle/>
          <a:p>
            <a:pPr marL="342900" indent="-342900">
              <a:buSzPct val="100000"/>
              <a:buChar char="•"/>
            </a:pPr>
            <a:r>
              <a:rPr lang="en-US" sz="1400" dirty="0">
                <a:solidFill>
                  <a:srgbClr val="000000"/>
                </a:solidFill>
              </a:rPr>
              <a:t>Oxygen (O2): A gas released into the air as a byproduct of photosynthesis; essential for most living things, including us!</a:t>
            </a:r>
            <a:endParaRPr lang="en-US" sz="1400" dirty="0"/>
          </a:p>
        </p:txBody>
      </p:sp>
      <p:sp>
        <p:nvSpPr>
          <p:cNvPr id="12" name="Text 10"/>
          <p:cNvSpPr/>
          <p:nvPr/>
        </p:nvSpPr>
        <p:spPr>
          <a:xfrm>
            <a:off x="4572000" y="2560320"/>
            <a:ext cx="6858000" cy="0"/>
          </a:xfrm>
          <a:prstGeom prst="rect">
            <a:avLst/>
          </a:prstGeom>
          <a:noFill/>
          <a:ln/>
        </p:spPr>
        <p:txBody>
          <a:bodyPr wrap="square" rtlCol="0" anchor="ctr"/>
          <a:lstStyle/>
          <a:p>
            <a:pPr indent="0" marL="0">
              <a:buNone/>
            </a:pPr>
            <a:r>
              <a:rPr lang="en-US" sz="1600" b="1" dirty="0">
                <a:solidFill>
                  <a:srgbClr val="000000"/>
                </a:solidFill>
              </a:rPr>
              <a:t>Solved Example:</a:t>
            </a:r>
            <a:endParaRPr lang="en-US" sz="1600" dirty="0"/>
          </a:p>
        </p:txBody>
      </p:sp>
      <p:sp>
        <p:nvSpPr>
          <p:cNvPr id="13" name="Text 11"/>
          <p:cNvSpPr/>
          <p:nvPr/>
        </p:nvSpPr>
        <p:spPr>
          <a:xfrm>
            <a:off x="4572000" y="2926080"/>
            <a:ext cx="3657600" cy="0"/>
          </a:xfrm>
          <a:prstGeom prst="rect">
            <a:avLst/>
          </a:prstGeom>
          <a:noFill/>
          <a:ln/>
        </p:spPr>
        <p:txBody>
          <a:bodyPr wrap="square" rtlCol="0" anchor="ctr"/>
          <a:lstStyle/>
          <a:p>
            <a:pPr indent="0" marL="0">
              <a:buNone/>
            </a:pPr>
            <a:r>
              <a:rPr lang="en-US" sz="1400" dirty="0">
                <a:solidFill>
                  <a:srgbClr val="000000"/>
                </a:solidFill>
              </a:rPr>
              <a:t>Think of a plant like a baker: It gathers carbon dioxide (from the air) and water (from the soil). With the energy of sunlight, it 'bakes' these ingredients into glucose (its sugary food) and releases oxygen as a delicious smell for the environment!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846320"/>
            <a:ext cx="8229600" cy="274320"/>
          </a:xfrm>
          <a:prstGeom prst="rect">
            <a:avLst/>
          </a:prstGeom>
          <a:noFill/>
          <a:ln/>
        </p:spPr>
        <p:txBody>
          <a:bodyPr wrap="square" rtlCol="0" anchor="ctr"/>
          <a:lstStyle/>
          <a:p>
            <a:pPr algn="r" indent="0" marL="0">
              <a:buNone/>
            </a:pPr>
            <a:r>
              <a:rPr lang="en-US" sz="1000" dirty="0">
                <a:solidFill>
                  <a:srgbClr val="2D3E50"/>
                </a:solidFill>
              </a:rPr>
              <a:t>Photosynthesis</a:t>
            </a:r>
            <a:endParaRPr lang="en-US" sz="1000" dirty="0"/>
          </a:p>
        </p:txBody>
      </p:sp>
      <p:sp>
        <p:nvSpPr>
          <p:cNvPr id="3" name="Text 1"/>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D3E50"/>
                </a:solidFill>
                <a:latin typeface="Arial" pitchFamily="34" charset="0"/>
                <a:ea typeface="Arial" pitchFamily="34" charset="-122"/>
                <a:cs typeface="Arial" pitchFamily="34" charset="-120"/>
              </a:rPr>
              <a:t>The 'Products' of Photosynthesis</a:t>
            </a:r>
            <a:endParaRPr lang="en-US" sz="3200" dirty="0"/>
          </a:p>
        </p:txBody>
      </p:sp>
      <p:sp>
        <p:nvSpPr>
          <p:cNvPr id="4" name="Text 2"/>
          <p:cNvSpPr/>
          <p:nvPr/>
        </p:nvSpPr>
        <p:spPr>
          <a:xfrm>
            <a:off x="731520" y="1371600"/>
            <a:ext cx="7772400" cy="457200"/>
          </a:xfrm>
          <a:prstGeom prst="rect">
            <a:avLst/>
          </a:prstGeom>
          <a:noFill/>
          <a:ln/>
        </p:spPr>
        <p:txBody>
          <a:bodyPr wrap="square" rtlCol="0" anchor="ctr"/>
          <a:lstStyle/>
          <a:p>
            <a:pPr marL="342900" indent="-342900">
              <a:buSzPct val="100000"/>
              <a:buChar char="•"/>
            </a:pPr>
            <a:r>
              <a:rPr lang="en-US" sz="1800" dirty="0">
                <a:solidFill>
                  <a:srgbClr val="2C3E50"/>
                </a:solidFill>
                <a:latin typeface="Verdana" pitchFamily="34" charset="0"/>
                <a:ea typeface="Verdana" pitchFamily="34" charset="-122"/>
                <a:cs typeface="Verdana" pitchFamily="34" charset="-120"/>
              </a:rPr>
              <a:t>Describe glucose (sugar) as the plant's food source and oxygen as a vital byproduct released into the atmosphere.</a:t>
            </a:r>
            <a:endParaRPr lang="en-US" sz="1800" dirty="0"/>
          </a:p>
        </p:txBody>
      </p:sp>
      <p:sp>
        <p:nvSpPr>
          <p:cNvPr id="5" name="Shape 3"/>
          <p:cNvSpPr/>
          <p:nvPr/>
        </p:nvSpPr>
        <p:spPr>
          <a:xfrm>
            <a:off x="457200" y="3840480"/>
            <a:ext cx="8229600" cy="731520"/>
          </a:xfrm>
          <a:prstGeom prst="rect">
            <a:avLst/>
          </a:prstGeom>
          <a:solidFill>
            <a:srgbClr val="F1F1F1"/>
          </a:solidFill>
          <a:ln/>
        </p:spPr>
      </p:sp>
      <p:sp>
        <p:nvSpPr>
          <p:cNvPr id="6" name="Text 4"/>
          <p:cNvSpPr/>
          <p:nvPr/>
        </p:nvSpPr>
        <p:spPr>
          <a:xfrm>
            <a:off x="548640" y="3840480"/>
            <a:ext cx="8046720" cy="731520"/>
          </a:xfrm>
          <a:prstGeom prst="rect">
            <a:avLst/>
          </a:prstGeom>
          <a:noFill/>
          <a:ln/>
        </p:spPr>
        <p:txBody>
          <a:bodyPr wrap="square" rtlCol="0" anchor="ctr"/>
          <a:lstStyle/>
          <a:p>
            <a:pPr indent="0" marL="0">
              <a:buNone/>
            </a:pPr>
            <a:r>
              <a:rPr lang="en-US" sz="1400" i="1" dirty="0">
                <a:solidFill>
                  <a:srgbClr val="2D3E50"/>
                </a:solidFill>
              </a:rPr>
              <a:t>Describe glucose (sugar) as the plant's food source and oxygen as a vital byproduct released into the atmosphere.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846320"/>
            <a:ext cx="8229600" cy="274320"/>
          </a:xfrm>
          <a:prstGeom prst="rect">
            <a:avLst/>
          </a:prstGeom>
          <a:noFill/>
          <a:ln/>
        </p:spPr>
        <p:txBody>
          <a:bodyPr wrap="square" rtlCol="0" anchor="ctr"/>
          <a:lstStyle/>
          <a:p>
            <a:pPr algn="r" indent="0" marL="0">
              <a:buNone/>
            </a:pPr>
            <a:r>
              <a:rPr lang="en-US" sz="1000" dirty="0">
                <a:solidFill>
                  <a:srgbClr val="2D3E50"/>
                </a:solidFill>
              </a:rPr>
              <a:t>Photosynthesis</a:t>
            </a:r>
            <a:endParaRPr lang="en-US" sz="1000" dirty="0"/>
          </a:p>
        </p:txBody>
      </p:sp>
      <p:sp>
        <p:nvSpPr>
          <p:cNvPr id="3" name="Text 1"/>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3498DB"/>
                </a:solidFill>
              </a:rPr>
              <a:t>Why Photosynthesis Matters to Us</a:t>
            </a:r>
            <a:endParaRPr lang="en-US" sz="3200" dirty="0"/>
          </a:p>
        </p:txBody>
      </p:sp>
      <p:sp>
        <p:nvSpPr>
          <p:cNvPr id="4" name="Text 2"/>
          <p:cNvSpPr/>
          <p:nvPr/>
        </p:nvSpPr>
        <p:spPr>
          <a:xfrm>
            <a:off x="457200" y="1188720"/>
            <a:ext cx="6858000" cy="0"/>
          </a:xfrm>
          <a:prstGeom prst="rect">
            <a:avLst/>
          </a:prstGeom>
          <a:noFill/>
          <a:ln/>
        </p:spPr>
        <p:txBody>
          <a:bodyPr wrap="square" rtlCol="0" anchor="ctr"/>
          <a:lstStyle/>
          <a:p>
            <a:pPr indent="0" marL="0">
              <a:buNone/>
            </a:pPr>
            <a:r>
              <a:rPr lang="en-US" sz="1600" b="1" dirty="0">
                <a:solidFill>
                  <a:srgbClr val="E67E22"/>
                </a:solidFill>
              </a:rPr>
              <a:t>Example Scenario:</a:t>
            </a:r>
            <a:endParaRPr lang="en-US" sz="1600" dirty="0"/>
          </a:p>
        </p:txBody>
      </p:sp>
      <p:sp>
        <p:nvSpPr>
          <p:cNvPr id="5" name="Text 3"/>
          <p:cNvSpPr/>
          <p:nvPr/>
        </p:nvSpPr>
        <p:spPr>
          <a:xfrm>
            <a:off x="457200" y="1463040"/>
            <a:ext cx="8229600" cy="0"/>
          </a:xfrm>
          <a:prstGeom prst="rect">
            <a:avLst/>
          </a:prstGeom>
          <a:noFill/>
          <a:ln/>
        </p:spPr>
        <p:txBody>
          <a:bodyPr wrap="square" rtlCol="0" anchor="ctr"/>
          <a:lstStyle/>
          <a:p>
            <a:pPr indent="0" marL="0">
              <a:buNone/>
            </a:pPr>
            <a:r>
              <a:rPr lang="en-US" sz="1800" dirty="0">
                <a:solidFill>
                  <a:srgbClr val="2C3E50"/>
                </a:solidFill>
              </a:rPr>
              <a:t>Illustrate how animals, including humans, depend on plants for food (glucose) and the oxygen they breathe.</a:t>
            </a:r>
            <a:endParaRPr lang="en-US" sz="1800" dirty="0"/>
          </a:p>
        </p:txBody>
      </p:sp>
      <p:sp>
        <p:nvSpPr>
          <p:cNvPr id="6" name="Text 4"/>
          <p:cNvSpPr/>
          <p:nvPr/>
        </p:nvSpPr>
        <p:spPr>
          <a:xfrm>
            <a:off x="457200" y="4389120"/>
            <a:ext cx="8229600" cy="0"/>
          </a:xfrm>
          <a:prstGeom prst="rect">
            <a:avLst/>
          </a:prstGeom>
          <a:noFill/>
          <a:ln/>
        </p:spPr>
        <p:txBody>
          <a:bodyPr wrap="square" rtlCol="0" anchor="ctr"/>
          <a:lstStyle/>
          <a:p>
            <a:pPr indent="0" marL="0">
              <a:buNone/>
            </a:pPr>
            <a:r>
              <a:rPr lang="en-US" sz="1600" b="1" dirty="0">
                <a:solidFill>
                  <a:srgbClr val="27AE60"/>
                </a:solidFill>
              </a:rPr>
              <a:t>Key Takeaway: Key learning from this example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846320"/>
            <a:ext cx="8229600" cy="274320"/>
          </a:xfrm>
          <a:prstGeom prst="rect">
            <a:avLst/>
          </a:prstGeom>
          <a:noFill/>
          <a:ln/>
        </p:spPr>
        <p:txBody>
          <a:bodyPr wrap="square" rtlCol="0" anchor="ctr"/>
          <a:lstStyle/>
          <a:p>
            <a:pPr algn="r" indent="0" marL="0">
              <a:buNone/>
            </a:pPr>
            <a:r>
              <a:rPr lang="en-US" sz="1000" dirty="0">
                <a:solidFill>
                  <a:srgbClr val="2D3E50"/>
                </a:solidFill>
              </a:rPr>
              <a:t>Photosynthesis</a:t>
            </a:r>
            <a:endParaRPr lang="en-US" sz="1000" dirty="0"/>
          </a:p>
        </p:txBody>
      </p:sp>
      <p:sp>
        <p:nvSpPr>
          <p:cNvPr id="3" name="Text 1"/>
          <p:cNvSpPr/>
          <p:nvPr/>
        </p:nvSpPr>
        <p:spPr>
          <a:xfrm>
            <a:off x="457200" y="457200"/>
            <a:ext cx="6858000" cy="0"/>
          </a:xfrm>
          <a:prstGeom prst="rect">
            <a:avLst/>
          </a:prstGeom>
          <a:noFill/>
          <a:ln/>
        </p:spPr>
        <p:txBody>
          <a:bodyPr wrap="square" rtlCol="0" anchor="ctr"/>
          <a:lstStyle/>
          <a:p>
            <a:pPr indent="0" marL="0">
              <a:buNone/>
            </a:pPr>
            <a:r>
              <a:rPr lang="en-US" sz="3200" b="1" dirty="0">
                <a:solidFill>
                  <a:srgbClr val="E67E22"/>
                </a:solidFill>
              </a:rPr>
              <a:t>Build a Photosynthesis Diagram</a:t>
            </a:r>
            <a:endParaRPr lang="en-US" sz="3200" dirty="0"/>
          </a:p>
        </p:txBody>
      </p:sp>
      <p:sp>
        <p:nvSpPr>
          <p:cNvPr id="4" name="Text 2"/>
          <p:cNvSpPr/>
          <p:nvPr/>
        </p:nvSpPr>
        <p:spPr>
          <a:xfrm>
            <a:off x="457200" y="1371600"/>
            <a:ext cx="8229600" cy="0"/>
          </a:xfrm>
          <a:prstGeom prst="rect">
            <a:avLst/>
          </a:prstGeom>
          <a:noFill/>
          <a:ln/>
        </p:spPr>
        <p:txBody>
          <a:bodyPr wrap="square" rtlCol="0" anchor="ctr"/>
          <a:lstStyle/>
          <a:p>
            <a:pPr indent="0" marL="0">
              <a:buNone/>
            </a:pPr>
            <a:r>
              <a:rPr lang="en-US" sz="2200" dirty="0">
                <a:solidFill>
                  <a:srgbClr val="000000"/>
                </a:solidFill>
              </a:rPr>
              <a:t>Engage students in an activity to label the reactants and products of photosynthesis on a diagram of a plant or leaf.</a:t>
            </a:r>
            <a:endParaRPr lang="en-US" sz="2200" dirty="0"/>
          </a:p>
        </p:txBody>
      </p:sp>
      <p:sp>
        <p:nvSpPr>
          <p:cNvPr id="5" name="Text 3"/>
          <p:cNvSpPr/>
          <p:nvPr/>
        </p:nvSpPr>
        <p:spPr>
          <a:xfrm>
            <a:off x="457200" y="4114800"/>
            <a:ext cx="6858000" cy="0"/>
          </a:xfrm>
          <a:prstGeom prst="rect">
            <a:avLst/>
          </a:prstGeom>
          <a:noFill/>
          <a:ln/>
        </p:spPr>
        <p:txBody>
          <a:bodyPr wrap="square" rtlCol="0" anchor="ctr"/>
          <a:lstStyle/>
          <a:p>
            <a:pPr indent="0" marL="0">
              <a:buNone/>
            </a:pPr>
            <a:r>
              <a:rPr lang="en-US" sz="1800" b="1" dirty="0">
                <a:solidFill>
                  <a:srgbClr val="3498DB"/>
                </a:solidFill>
              </a:rPr>
              <a:t>Duration: 5 minutes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BF5FB"/>
        </a:solidFill>
      </p:bgPr>
    </p:bg>
    <p:spTree>
      <p:nvGrpSpPr>
        <p:cNvPr id="1" name=""/>
        <p:cNvGrpSpPr/>
        <p:nvPr/>
      </p:nvGrpSpPr>
      <p:grpSpPr>
        <a:xfrm>
          <a:off x="0" y="0"/>
          <a:ext cx="0" cy="0"/>
          <a:chOff x="0" y="0"/>
          <a:chExt cx="0" cy="0"/>
        </a:xfrm>
      </p:grpSpPr>
      <p:sp>
        <p:nvSpPr>
          <p:cNvPr id="2" name="Text 0"/>
          <p:cNvSpPr/>
          <p:nvPr/>
        </p:nvSpPr>
        <p:spPr>
          <a:xfrm>
            <a:off x="457200" y="4846320"/>
            <a:ext cx="8229600" cy="274320"/>
          </a:xfrm>
          <a:prstGeom prst="rect">
            <a:avLst/>
          </a:prstGeom>
          <a:noFill/>
          <a:ln/>
        </p:spPr>
        <p:txBody>
          <a:bodyPr wrap="square" rtlCol="0" anchor="ctr"/>
          <a:lstStyle/>
          <a:p>
            <a:pPr algn="r" indent="0" marL="0">
              <a:buNone/>
            </a:pPr>
            <a:r>
              <a:rPr lang="en-US" sz="1000" dirty="0">
                <a:solidFill>
                  <a:srgbClr val="2D3E50"/>
                </a:solidFill>
              </a:rPr>
              <a:t>Photosynthesis</a:t>
            </a:r>
            <a:endParaRPr lang="en-US" sz="1000" dirty="0"/>
          </a:p>
        </p:txBody>
      </p:sp>
      <p:sp>
        <p:nvSpPr>
          <p:cNvPr id="3" name="Text 1"/>
          <p:cNvSpPr/>
          <p:nvPr/>
        </p:nvSpPr>
        <p:spPr>
          <a:xfrm>
            <a:off x="457200" y="274320"/>
            <a:ext cx="6858000" cy="0"/>
          </a:xfrm>
          <a:prstGeom prst="rect">
            <a:avLst/>
          </a:prstGeom>
          <a:noFill/>
          <a:ln/>
        </p:spPr>
        <p:txBody>
          <a:bodyPr wrap="square" rtlCol="0" anchor="ctr"/>
          <a:lstStyle/>
          <a:p>
            <a:pPr indent="0" marL="0">
              <a:buNone/>
            </a:pPr>
            <a:r>
              <a:rPr lang="en-US" sz="2400" b="1" dirty="0">
                <a:solidFill>
                  <a:srgbClr val="3498DB"/>
                </a:solidFill>
              </a:rPr>
              <a:t>Quick Quiz</a:t>
            </a:r>
            <a:endParaRPr lang="en-US" sz="2400" dirty="0"/>
          </a:p>
        </p:txBody>
      </p:sp>
      <p:sp>
        <p:nvSpPr>
          <p:cNvPr id="4" name="Text 2"/>
          <p:cNvSpPr/>
          <p:nvPr/>
        </p:nvSpPr>
        <p:spPr>
          <a:xfrm>
            <a:off x="457200" y="731520"/>
            <a:ext cx="8229600" cy="0"/>
          </a:xfrm>
          <a:prstGeom prst="rect">
            <a:avLst/>
          </a:prstGeom>
          <a:noFill/>
          <a:ln/>
        </p:spPr>
        <p:txBody>
          <a:bodyPr wrap="square" rtlCol="0" anchor="ctr"/>
          <a:lstStyle/>
          <a:p>
            <a:pPr indent="0" marL="0">
              <a:buNone/>
            </a:pPr>
            <a:r>
              <a:rPr lang="en-US" sz="2800" b="1" dirty="0">
                <a:solidFill>
                  <a:srgbClr val="2D3E50"/>
                </a:solidFill>
              </a:rPr>
              <a:t>Test student understanding with a few multiple-choice or fill-in-the-blank questions about the process.</a:t>
            </a:r>
            <a:endParaRPr lang="en-US" sz="2800" dirty="0"/>
          </a:p>
        </p:txBody>
      </p:sp>
      <p:sp>
        <p:nvSpPr>
          <p:cNvPr id="5" name="Shape 3"/>
          <p:cNvSpPr/>
          <p:nvPr/>
        </p:nvSpPr>
        <p:spPr>
          <a:xfrm>
            <a:off x="457200" y="1828800"/>
            <a:ext cx="4023360" cy="914400"/>
          </a:xfrm>
          <a:prstGeom prst="rect">
            <a:avLst/>
          </a:prstGeom>
          <a:solidFill>
            <a:srgbClr val="FFFFFF"/>
          </a:solidFill>
          <a:ln w="12700">
            <a:solidFill>
              <a:srgbClr val="3498DB"/>
            </a:solidFill>
            <a:prstDash val="solid"/>
          </a:ln>
        </p:spPr>
      </p:sp>
      <p:sp>
        <p:nvSpPr>
          <p:cNvPr id="6" name="Text 4"/>
          <p:cNvSpPr/>
          <p:nvPr/>
        </p:nvSpPr>
        <p:spPr>
          <a:xfrm>
            <a:off x="548640" y="1828800"/>
            <a:ext cx="3840480" cy="914400"/>
          </a:xfrm>
          <a:prstGeom prst="rect">
            <a:avLst/>
          </a:prstGeom>
          <a:noFill/>
          <a:ln/>
        </p:spPr>
        <p:txBody>
          <a:bodyPr wrap="square" rtlCol="0" anchor="ctr"/>
          <a:lstStyle/>
          <a:p>
            <a:pPr algn="ctr" indent="0" marL="0">
              <a:buNone/>
            </a:pPr>
            <a:r>
              <a:rPr lang="en-US" sz="1800" dirty="0">
                <a:solidFill>
                  <a:srgbClr val="000000"/>
                </a:solidFill>
              </a:rPr>
              <a:t>A) Option 1</a:t>
            </a:r>
            <a:endParaRPr lang="en-US" sz="1800" dirty="0"/>
          </a:p>
        </p:txBody>
      </p:sp>
      <p:sp>
        <p:nvSpPr>
          <p:cNvPr id="7" name="Shape 5"/>
          <p:cNvSpPr/>
          <p:nvPr/>
        </p:nvSpPr>
        <p:spPr>
          <a:xfrm>
            <a:off x="4663440" y="1828800"/>
            <a:ext cx="4023360" cy="914400"/>
          </a:xfrm>
          <a:prstGeom prst="rect">
            <a:avLst/>
          </a:prstGeom>
          <a:solidFill>
            <a:srgbClr val="FFFFFF"/>
          </a:solidFill>
          <a:ln w="12700">
            <a:solidFill>
              <a:srgbClr val="3498DB"/>
            </a:solidFill>
            <a:prstDash val="solid"/>
          </a:ln>
        </p:spPr>
      </p:sp>
      <p:sp>
        <p:nvSpPr>
          <p:cNvPr id="8" name="Text 6"/>
          <p:cNvSpPr/>
          <p:nvPr/>
        </p:nvSpPr>
        <p:spPr>
          <a:xfrm>
            <a:off x="4754880" y="1828800"/>
            <a:ext cx="3840480" cy="914400"/>
          </a:xfrm>
          <a:prstGeom prst="rect">
            <a:avLst/>
          </a:prstGeom>
          <a:noFill/>
          <a:ln/>
        </p:spPr>
        <p:txBody>
          <a:bodyPr wrap="square" rtlCol="0" anchor="ctr"/>
          <a:lstStyle/>
          <a:p>
            <a:pPr algn="ctr" indent="0" marL="0">
              <a:buNone/>
            </a:pPr>
            <a:r>
              <a:rPr lang="en-US" sz="1800" dirty="0">
                <a:solidFill>
                  <a:srgbClr val="000000"/>
                </a:solidFill>
              </a:rPr>
              <a:t>B) Option 2</a:t>
            </a:r>
            <a:endParaRPr lang="en-US" sz="1800" dirty="0"/>
          </a:p>
        </p:txBody>
      </p:sp>
      <p:sp>
        <p:nvSpPr>
          <p:cNvPr id="9" name="Shape 7"/>
          <p:cNvSpPr/>
          <p:nvPr/>
        </p:nvSpPr>
        <p:spPr>
          <a:xfrm>
            <a:off x="457200" y="2926080"/>
            <a:ext cx="4023360" cy="914400"/>
          </a:xfrm>
          <a:prstGeom prst="rect">
            <a:avLst/>
          </a:prstGeom>
          <a:solidFill>
            <a:srgbClr val="FFFFFF"/>
          </a:solidFill>
          <a:ln w="12700">
            <a:solidFill>
              <a:srgbClr val="3498DB"/>
            </a:solidFill>
            <a:prstDash val="solid"/>
          </a:ln>
        </p:spPr>
      </p:sp>
      <p:sp>
        <p:nvSpPr>
          <p:cNvPr id="10" name="Text 8"/>
          <p:cNvSpPr/>
          <p:nvPr/>
        </p:nvSpPr>
        <p:spPr>
          <a:xfrm>
            <a:off x="548640" y="2926080"/>
            <a:ext cx="3840480" cy="914400"/>
          </a:xfrm>
          <a:prstGeom prst="rect">
            <a:avLst/>
          </a:prstGeom>
          <a:noFill/>
          <a:ln/>
        </p:spPr>
        <p:txBody>
          <a:bodyPr wrap="square" rtlCol="0" anchor="ctr"/>
          <a:lstStyle/>
          <a:p>
            <a:pPr algn="ctr" indent="0" marL="0">
              <a:buNone/>
            </a:pPr>
            <a:r>
              <a:rPr lang="en-US" sz="1800" dirty="0">
                <a:solidFill>
                  <a:srgbClr val="000000"/>
                </a:solidFill>
              </a:rPr>
              <a:t>C) Option 3</a:t>
            </a:r>
            <a:endParaRPr lang="en-US" sz="1800" dirty="0"/>
          </a:p>
        </p:txBody>
      </p:sp>
      <p:sp>
        <p:nvSpPr>
          <p:cNvPr id="11" name="Shape 9"/>
          <p:cNvSpPr/>
          <p:nvPr/>
        </p:nvSpPr>
        <p:spPr>
          <a:xfrm>
            <a:off x="4663440" y="2926080"/>
            <a:ext cx="4023360" cy="914400"/>
          </a:xfrm>
          <a:prstGeom prst="rect">
            <a:avLst/>
          </a:prstGeom>
          <a:solidFill>
            <a:srgbClr val="FFFFFF"/>
          </a:solidFill>
          <a:ln w="12700">
            <a:solidFill>
              <a:srgbClr val="3498DB"/>
            </a:solidFill>
            <a:prstDash val="solid"/>
          </a:ln>
        </p:spPr>
      </p:sp>
      <p:sp>
        <p:nvSpPr>
          <p:cNvPr id="12" name="Text 10"/>
          <p:cNvSpPr/>
          <p:nvPr/>
        </p:nvSpPr>
        <p:spPr>
          <a:xfrm>
            <a:off x="4754880" y="2926080"/>
            <a:ext cx="3840480" cy="914400"/>
          </a:xfrm>
          <a:prstGeom prst="rect">
            <a:avLst/>
          </a:prstGeom>
          <a:noFill/>
          <a:ln/>
        </p:spPr>
        <p:txBody>
          <a:bodyPr wrap="square" rtlCol="0" anchor="ctr"/>
          <a:lstStyle/>
          <a:p>
            <a:pPr algn="ctr" indent="0" marL="0">
              <a:buNone/>
            </a:pPr>
            <a:r>
              <a:rPr lang="en-US" sz="1800" dirty="0">
                <a:solidFill>
                  <a:srgbClr val="000000"/>
                </a:solidFill>
              </a:rPr>
              <a:t>D) Option 4</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846320"/>
            <a:ext cx="8229600" cy="274320"/>
          </a:xfrm>
          <a:prstGeom prst="rect">
            <a:avLst/>
          </a:prstGeom>
          <a:noFill/>
          <a:ln/>
        </p:spPr>
        <p:txBody>
          <a:bodyPr wrap="square" rtlCol="0" anchor="ctr"/>
          <a:lstStyle/>
          <a:p>
            <a:pPr algn="r" indent="0" marL="0">
              <a:buNone/>
            </a:pPr>
            <a:r>
              <a:rPr lang="en-US" sz="1000" dirty="0">
                <a:solidFill>
                  <a:srgbClr val="2D3E50"/>
                </a:solidFill>
              </a:rPr>
              <a:t>Photosynthesis</a:t>
            </a:r>
            <a:endParaRPr lang="en-US" sz="1000" dirty="0"/>
          </a:p>
        </p:txBody>
      </p:sp>
      <p:sp>
        <p:nvSpPr>
          <p:cNvPr id="3" name="Text 1"/>
          <p:cNvSpPr/>
          <p:nvPr/>
        </p:nvSpPr>
        <p:spPr>
          <a:xfrm>
            <a:off x="457200" y="457200"/>
            <a:ext cx="6858000" cy="0"/>
          </a:xfrm>
          <a:prstGeom prst="rect">
            <a:avLst/>
          </a:prstGeom>
          <a:noFill/>
          <a:ln/>
        </p:spPr>
        <p:txBody>
          <a:bodyPr wrap="square" rtlCol="0" anchor="ctr"/>
          <a:lstStyle/>
          <a:p>
            <a:pPr indent="0" marL="0">
              <a:buNone/>
            </a:pPr>
            <a:r>
              <a:rPr lang="en-US" sz="3200" b="1" dirty="0">
                <a:solidFill>
                  <a:srgbClr val="2D3E50"/>
                </a:solidFill>
              </a:rPr>
              <a:t>Key Takeaways: Photosynthesis</a:t>
            </a:r>
            <a:endParaRPr lang="en-US" sz="3200" dirty="0"/>
          </a:p>
        </p:txBody>
      </p:sp>
      <p:sp>
        <p:nvSpPr>
          <p:cNvPr id="4" name="Text 2"/>
          <p:cNvSpPr/>
          <p:nvPr/>
        </p:nvSpPr>
        <p:spPr>
          <a:xfrm>
            <a:off x="731520" y="1371600"/>
            <a:ext cx="7772400" cy="0"/>
          </a:xfrm>
          <a:prstGeom prst="rect">
            <a:avLst/>
          </a:prstGeom>
          <a:noFill/>
          <a:ln/>
        </p:spPr>
        <p:txBody>
          <a:bodyPr wrap="square" rtlCol="0" anchor="ctr"/>
          <a:lstStyle/>
          <a:p>
            <a:pPr marL="342900" indent="-342900">
              <a:buSzPct val="100000"/>
              <a:buChar char="•"/>
            </a:pPr>
            <a:r>
              <a:rPr lang="en-US" sz="1800" dirty="0">
                <a:solidFill>
                  <a:srgbClr val="000000"/>
                </a:solidFill>
              </a:rPr>
              <a:t>Review the main points: what photosynthesis is, its ingredients, where it happens, and its importance to all living things.</a:t>
            </a:r>
            <a:endParaRPr lang="en-US" sz="1800" dirty="0"/>
          </a:p>
        </p:txBody>
      </p:sp>
      <p:sp>
        <p:nvSpPr>
          <p:cNvPr id="5" name="Text 3"/>
          <p:cNvSpPr/>
          <p:nvPr/>
        </p:nvSpPr>
        <p:spPr>
          <a:xfrm>
            <a:off x="457200" y="3840480"/>
            <a:ext cx="6858000" cy="0"/>
          </a:xfrm>
          <a:prstGeom prst="rect">
            <a:avLst/>
          </a:prstGeom>
          <a:noFill/>
          <a:ln/>
        </p:spPr>
        <p:txBody>
          <a:bodyPr wrap="square" rtlCol="0" anchor="ctr"/>
          <a:lstStyle/>
          <a:p>
            <a:pPr indent="0" marL="0">
              <a:buNone/>
            </a:pPr>
            <a:r>
              <a:rPr lang="en-US" sz="1800" b="1" dirty="0">
                <a:solidFill>
                  <a:srgbClr val="E67E22"/>
                </a:solidFill>
              </a:rPr>
              <a:t>Next Steps:</a:t>
            </a:r>
            <a:endParaRPr lang="en-US" sz="1800" dirty="0"/>
          </a:p>
        </p:txBody>
      </p:sp>
      <p:sp>
        <p:nvSpPr>
          <p:cNvPr id="6" name="Text 4"/>
          <p:cNvSpPr/>
          <p:nvPr/>
        </p:nvSpPr>
        <p:spPr>
          <a:xfrm>
            <a:off x="457200" y="4206240"/>
            <a:ext cx="8229600" cy="0"/>
          </a:xfrm>
          <a:prstGeom prst="rect">
            <a:avLst/>
          </a:prstGeom>
          <a:noFill/>
          <a:ln/>
        </p:spPr>
        <p:txBody>
          <a:bodyPr wrap="square" rtlCol="0" anchor="ctr"/>
          <a:lstStyle/>
          <a:p>
            <a:pPr indent="0" marL="0">
              <a:buNone/>
            </a:pPr>
            <a:r>
              <a:rPr lang="en-US" sz="1600" dirty="0">
                <a:solidFill>
                  <a:srgbClr val="000000"/>
                </a:solidFill>
              </a:rPr>
              <a:t>Review the material</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Photosynthesis</dc:title>
  <dc:subject>PptxGenJS Presentation</dc:subject>
  <dc:creator>PptxGenJS</dc:creator>
  <cp:lastModifiedBy>PptxGenJS</cp:lastModifiedBy>
  <cp:revision>1</cp:revision>
  <dcterms:created xsi:type="dcterms:W3CDTF">2026-05-16T06:17:12Z</dcterms:created>
  <dcterms:modified xsi:type="dcterms:W3CDTF">2026-05-16T06:17:12Z</dcterms:modified>
</cp:coreProperties>
</file>