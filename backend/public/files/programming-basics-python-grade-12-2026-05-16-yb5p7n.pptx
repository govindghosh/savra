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E50"/>
        </a:solidFill>
      </p:bgPr>
    </p:bg>
    <p:spTree>
      <p:nvGrpSpPr>
        <p:cNvPr id="1" name=""/>
        <p:cNvGrpSpPr/>
        <p:nvPr/>
      </p:nvGrpSpPr>
      <p:grpSpPr>
        <a:xfrm>
          <a:off x="0" y="0"/>
          <a:ext cx="0" cy="0"/>
          <a:chOff x="0" y="0"/>
          <a:chExt cx="0" cy="0"/>
        </a:xfrm>
      </p:grpSpPr>
      <p:sp>
        <p:nvSpPr>
          <p:cNvPr id="2" name="Shape 0"/>
          <p:cNvSpPr/>
          <p:nvPr/>
        </p:nvSpPr>
        <p:spPr>
          <a:xfrm>
            <a:off x="0" y="4297680"/>
            <a:ext cx="9144000" cy="868680"/>
          </a:xfrm>
          <a:prstGeom prst="rect">
            <a:avLst/>
          </a:prstGeom>
          <a:solidFill>
            <a:srgbClr val="3498DB">
              <a:alpha val="84000"/>
            </a:srgbClr>
          </a:solidFill>
          <a:ln w="12700">
            <a:solidFill>
              <a:srgbClr val="3498DB">
                <a:alpha val="0"/>
              </a:srgbClr>
            </a:solidFill>
            <a:prstDash val="solid"/>
          </a:ln>
        </p:spPr>
      </p:sp>
      <p:sp>
        <p:nvSpPr>
          <p:cNvPr id="3" name="Text 1"/>
          <p:cNvSpPr/>
          <p:nvPr/>
        </p:nvSpPr>
        <p:spPr>
          <a:xfrm>
            <a:off x="777240" y="1325880"/>
            <a:ext cx="7589520" cy="1234440"/>
          </a:xfrm>
          <a:prstGeom prst="rect">
            <a:avLst/>
          </a:prstGeom>
          <a:noFill/>
          <a:ln/>
        </p:spPr>
        <p:txBody>
          <a:bodyPr wrap="square" lIns="635" tIns="635" rIns="635" bIns="635" rtlCol="0" anchor="ctr">
            <a:normAutofit/>
          </a:bodyPr>
          <a:lstStyle/>
          <a:p>
            <a:pPr algn="ctr" indent="0" marL="0">
              <a:buNone/>
            </a:pPr>
            <a:r>
              <a:rPr lang="en-US" sz="3600" b="1" dirty="0">
                <a:solidFill>
                  <a:srgbClr val="FFFFFF"/>
                </a:solidFill>
                <a:latin typeface="Arial" pitchFamily="34" charset="0"/>
                <a:ea typeface="Arial" pitchFamily="34" charset="-122"/>
                <a:cs typeface="Arial" pitchFamily="34" charset="-120"/>
              </a:rPr>
              <a:t>Introduction to Python Programming Basics</a:t>
            </a:r>
            <a:endParaRPr lang="en-US" sz="3600" dirty="0"/>
          </a:p>
        </p:txBody>
      </p:sp>
      <p:sp>
        <p:nvSpPr>
          <p:cNvPr id="4" name="Text 2"/>
          <p:cNvSpPr/>
          <p:nvPr/>
        </p:nvSpPr>
        <p:spPr>
          <a:xfrm>
            <a:off x="1188720" y="2743200"/>
            <a:ext cx="6766560" cy="658368"/>
          </a:xfrm>
          <a:prstGeom prst="rect">
            <a:avLst/>
          </a:prstGeom>
          <a:noFill/>
          <a:ln/>
        </p:spPr>
        <p:txBody>
          <a:bodyPr wrap="square" lIns="635" tIns="635" rIns="635" bIns="635" rtlCol="0" anchor="ctr">
            <a:normAutofit/>
          </a:bodyPr>
          <a:lstStyle/>
          <a:p>
            <a:pPr algn="ctr" indent="0" marL="0">
              <a:buNone/>
            </a:pPr>
            <a:r>
              <a:rPr lang="en-US" sz="1800" dirty="0">
                <a:solidFill>
                  <a:srgbClr val="D7EAFB"/>
                </a:solidFill>
                <a:latin typeface="Verdana" pitchFamily="34" charset="0"/>
                <a:ea typeface="Verdana" pitchFamily="34" charset="-122"/>
                <a:cs typeface="Verdana" pitchFamily="34" charset="-120"/>
              </a:rPr>
              <a:t>Unlocking the Fundamentals of Computer Science with Python</a:t>
            </a:r>
            <a:endParaRPr lang="en-US" sz="1800" dirty="0"/>
          </a:p>
        </p:txBody>
      </p:sp>
      <p:sp>
        <p:nvSpPr>
          <p:cNvPr id="5" name="Text 3"/>
          <p:cNvSpPr/>
          <p:nvPr/>
        </p:nvSpPr>
        <p:spPr>
          <a:xfrm>
            <a:off x="1463040" y="3703320"/>
            <a:ext cx="6217920" cy="320040"/>
          </a:xfrm>
          <a:prstGeom prst="rect">
            <a:avLst/>
          </a:prstGeom>
          <a:noFill/>
          <a:ln/>
        </p:spPr>
        <p:txBody>
          <a:bodyPr wrap="square" lIns="254" tIns="254" rIns="254" bIns="254" rtlCol="0" anchor="ctr"/>
          <a:lstStyle/>
          <a:p>
            <a:pPr algn="ctr" indent="0" marL="0">
              <a:buNone/>
            </a:pPr>
            <a:r>
              <a:rPr lang="en-US" sz="1200" b="1" dirty="0">
                <a:solidFill>
                  <a:srgbClr val="FFFFFF"/>
                </a:solidFill>
              </a:rPr>
              <a:t>Grade 12</a:t>
            </a:r>
            <a:endParaRPr lang="en-US" sz="1200" dirty="0"/>
          </a:p>
        </p:txBody>
      </p:sp>
      <p:sp>
        <p:nvSpPr>
          <p:cNvPr id="6" name="Shape 4"/>
          <p:cNvSpPr/>
          <p:nvPr/>
        </p:nvSpPr>
        <p:spPr>
          <a:xfrm>
            <a:off x="502920" y="4718304"/>
            <a:ext cx="8138160" cy="0"/>
          </a:xfrm>
          <a:prstGeom prst="line">
            <a:avLst/>
          </a:prstGeom>
          <a:noFill/>
          <a:ln w="7620">
            <a:solidFill>
              <a:srgbClr val="D8DEE9"/>
            </a:solidFill>
            <a:prstDash val="solid"/>
          </a:ln>
        </p:spPr>
      </p:sp>
      <p:sp>
        <p:nvSpPr>
          <p:cNvPr id="7" name="Text 5"/>
          <p:cNvSpPr/>
          <p:nvPr/>
        </p:nvSpPr>
        <p:spPr>
          <a:xfrm>
            <a:off x="502920" y="4800600"/>
            <a:ext cx="6629400" cy="201168"/>
          </a:xfrm>
          <a:prstGeom prst="rect">
            <a:avLst/>
          </a:prstGeom>
          <a:noFill/>
          <a:ln/>
        </p:spPr>
        <p:txBody>
          <a:bodyPr wrap="square" lIns="0" tIns="0" rIns="0" bIns="0" rtlCol="0" anchor="ctr"/>
          <a:lstStyle/>
          <a:p>
            <a:pPr indent="0" marL="0">
              <a:buNone/>
            </a:pPr>
            <a:r>
              <a:rPr lang="en-US" sz="800" dirty="0">
                <a:solidFill>
                  <a:srgbClr val="64748B"/>
                </a:solidFill>
              </a:rPr>
              <a:t>Programming Basics (Python)</a:t>
            </a:r>
            <a:endParaRPr lang="en-US" sz="800" dirty="0"/>
          </a:p>
        </p:txBody>
      </p:sp>
      <p:sp>
        <p:nvSpPr>
          <p:cNvPr id="8" name="Text 6"/>
          <p:cNvSpPr/>
          <p:nvPr/>
        </p:nvSpPr>
        <p:spPr>
          <a:xfrm>
            <a:off x="7818120" y="4800600"/>
            <a:ext cx="822960" cy="201168"/>
          </a:xfrm>
          <a:prstGeom prst="rect">
            <a:avLst/>
          </a:prstGeom>
          <a:noFill/>
          <a:ln/>
        </p:spPr>
        <p:txBody>
          <a:bodyPr wrap="square" lIns="0" tIns="0" rIns="0" bIns="0" rtlCol="0" anchor="ctr"/>
          <a:lstStyle/>
          <a:p>
            <a:pPr algn="r" indent="0" marL="0">
              <a:buNone/>
            </a:pPr>
            <a:r>
              <a:rPr lang="en-US" sz="800" dirty="0">
                <a:solidFill>
                  <a:srgbClr val="64748B"/>
                </a:solidFill>
              </a:rPr>
              <a:t>1</a:t>
            </a:r>
            <a:endParaRPr lang="en-US" sz="800" dirty="0"/>
          </a:p>
        </p:txBody>
      </p:sp>
    </p:spTree>
  </p:cSld>
  <p:transition spd="med" advClick="1">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254" tIns="254" rIns="254" bIns="254" rtlCol="0" anchor="ctr">
            <a:normAutofit/>
          </a:bodyPr>
          <a:lstStyle/>
          <a:p>
            <a:pPr indent="0" marL="0">
              <a:buNone/>
            </a:pPr>
            <a:r>
              <a:rPr lang="en-US" sz="2600" b="1" dirty="0">
                <a:solidFill>
                  <a:srgbClr val="2D3E50"/>
                </a:solidFill>
                <a:latin typeface="Arial" pitchFamily="34" charset="0"/>
                <a:ea typeface="Arial" pitchFamily="34" charset="-122"/>
                <a:cs typeface="Arial" pitchFamily="34" charset="-120"/>
              </a:rPr>
              <a:t>Core Concepts: Variables &amp; Data Types</a:t>
            </a:r>
            <a:endParaRPr lang="en-US" sz="2600" dirty="0"/>
          </a:p>
        </p:txBody>
      </p:sp>
      <p:sp>
        <p:nvSpPr>
          <p:cNvPr id="3" name="Text 1"/>
          <p:cNvSpPr/>
          <p:nvPr/>
        </p:nvSpPr>
        <p:spPr>
          <a:xfrm>
            <a:off x="685800" y="1115568"/>
            <a:ext cx="7863840" cy="709907"/>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A variable is a named storage location in memory used to hold data that can change during program execution.</a:t>
            </a:r>
            <a:endParaRPr lang="en-US" sz="1400" dirty="0"/>
          </a:p>
        </p:txBody>
      </p:sp>
      <p:sp>
        <p:nvSpPr>
          <p:cNvPr id="4" name="Text 2"/>
          <p:cNvSpPr/>
          <p:nvPr/>
        </p:nvSpPr>
        <p:spPr>
          <a:xfrm>
            <a:off x="685800" y="1916915"/>
            <a:ext cx="7863840" cy="709907"/>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In Python, you declare variables by assigning a value; the interpreter automatically infers its data type.</a:t>
            </a:r>
            <a:endParaRPr lang="en-US" sz="1400" dirty="0"/>
          </a:p>
        </p:txBody>
      </p:sp>
      <p:sp>
        <p:nvSpPr>
          <p:cNvPr id="5" name="Text 3"/>
          <p:cNvSpPr/>
          <p:nvPr/>
        </p:nvSpPr>
        <p:spPr>
          <a:xfrm>
            <a:off x="685800" y="2718262"/>
            <a:ext cx="7863840" cy="709907"/>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Common data types include integers (whole numbers), floats (decimal numbers), strings (text sequences), and booleans (True/Fals...</a:t>
            </a:r>
            <a:endParaRPr lang="en-US" sz="1400" dirty="0"/>
          </a:p>
        </p:txBody>
      </p:sp>
      <p:sp>
        <p:nvSpPr>
          <p:cNvPr id="6" name="Shape 4"/>
          <p:cNvSpPr/>
          <p:nvPr/>
        </p:nvSpPr>
        <p:spPr>
          <a:xfrm>
            <a:off x="594360" y="3703320"/>
            <a:ext cx="7955280" cy="777240"/>
          </a:xfrm>
          <a:prstGeom prst="roundRect">
            <a:avLst>
              <a:gd name="adj" fmla="val 7059"/>
            </a:avLst>
          </a:prstGeom>
          <a:solidFill>
            <a:srgbClr val="EEF6FF"/>
          </a:solidFill>
          <a:ln w="10160">
            <a:solidFill>
              <a:srgbClr val="B7D7F4"/>
            </a:solidFill>
            <a:prstDash val="solid"/>
          </a:ln>
        </p:spPr>
      </p:sp>
      <p:sp>
        <p:nvSpPr>
          <p:cNvPr id="7" name="Text 5"/>
          <p:cNvSpPr/>
          <p:nvPr/>
        </p:nvSpPr>
        <p:spPr>
          <a:xfrm>
            <a:off x="749808" y="3803904"/>
            <a:ext cx="7635240" cy="530352"/>
          </a:xfrm>
          <a:prstGeom prst="rect">
            <a:avLst/>
          </a:prstGeom>
          <a:noFill/>
          <a:ln/>
        </p:spPr>
        <p:txBody>
          <a:bodyPr wrap="square" lIns="1016" tIns="1016" rIns="1016" bIns="1016" rtlCol="0" anchor="ctr">
            <a:normAutofit/>
          </a:bodyPr>
          <a:lstStyle/>
          <a:p>
            <a:pPr indent="0" marL="0">
              <a:buNone/>
            </a:pPr>
            <a:r>
              <a:rPr lang="en-US" sz="1200" dirty="0">
                <a:solidFill>
                  <a:srgbClr val="2D3E50"/>
                </a:solidFill>
                <a:latin typeface="Verdana" pitchFamily="34" charset="0"/>
                <a:ea typeface="Verdana" pitchFamily="34" charset="-122"/>
                <a:cs typeface="Verdana" pitchFamily="34" charset="-120"/>
              </a:rPr>
              <a:t>Variables are fundamental building blocks for storing and manipulating information in any program. Understanding data types is crucial as it ensures data is handled correctly, preventing errors and optimizing memory usage within your Python applications.</a:t>
            </a:r>
            <a:endParaRPr lang="en-US" sz="1200" dirty="0"/>
          </a:p>
        </p:txBody>
      </p:sp>
      <p:sp>
        <p:nvSpPr>
          <p:cNvPr id="8" name="Shape 6"/>
          <p:cNvSpPr/>
          <p:nvPr/>
        </p:nvSpPr>
        <p:spPr>
          <a:xfrm>
            <a:off x="502920" y="4718304"/>
            <a:ext cx="8138160" cy="0"/>
          </a:xfrm>
          <a:prstGeom prst="line">
            <a:avLst/>
          </a:prstGeom>
          <a:noFill/>
          <a:ln w="7620">
            <a:solidFill>
              <a:srgbClr val="D8DEE9"/>
            </a:solidFill>
            <a:prstDash val="solid"/>
          </a:ln>
        </p:spPr>
      </p:sp>
      <p:sp>
        <p:nvSpPr>
          <p:cNvPr id="9" name="Text 7"/>
          <p:cNvSpPr/>
          <p:nvPr/>
        </p:nvSpPr>
        <p:spPr>
          <a:xfrm>
            <a:off x="502920" y="4800600"/>
            <a:ext cx="6629400" cy="201168"/>
          </a:xfrm>
          <a:prstGeom prst="rect">
            <a:avLst/>
          </a:prstGeom>
          <a:noFill/>
          <a:ln/>
        </p:spPr>
        <p:txBody>
          <a:bodyPr wrap="square" lIns="0" tIns="0" rIns="0" bIns="0" rtlCol="0" anchor="ctr"/>
          <a:lstStyle/>
          <a:p>
            <a:pPr indent="0" marL="0">
              <a:buNone/>
            </a:pPr>
            <a:r>
              <a:rPr lang="en-US" sz="800" dirty="0">
                <a:solidFill>
                  <a:srgbClr val="64748B"/>
                </a:solidFill>
              </a:rPr>
              <a:t>Programming Basics (Python)</a:t>
            </a:r>
            <a:endParaRPr lang="en-US" sz="800" dirty="0"/>
          </a:p>
        </p:txBody>
      </p:sp>
      <p:sp>
        <p:nvSpPr>
          <p:cNvPr id="10" name="Text 8"/>
          <p:cNvSpPr/>
          <p:nvPr/>
        </p:nvSpPr>
        <p:spPr>
          <a:xfrm>
            <a:off x="7818120" y="4800600"/>
            <a:ext cx="822960" cy="201168"/>
          </a:xfrm>
          <a:prstGeom prst="rect">
            <a:avLst/>
          </a:prstGeom>
          <a:noFill/>
          <a:ln/>
        </p:spPr>
        <p:txBody>
          <a:bodyPr wrap="square" lIns="0" tIns="0" rIns="0" bIns="0" rtlCol="0" anchor="ctr"/>
          <a:lstStyle/>
          <a:p>
            <a:pPr algn="r" indent="0" marL="0">
              <a:buNone/>
            </a:pPr>
            <a:r>
              <a:rPr lang="en-US" sz="800" dirty="0">
                <a:solidFill>
                  <a:srgbClr val="64748B"/>
                </a:solidFill>
              </a:rPr>
              <a:t>2</a:t>
            </a:r>
            <a:endParaRPr lang="en-US" sz="800" dirty="0"/>
          </a:p>
        </p:txBody>
      </p:sp>
    </p:spTree>
  </p:cSld>
  <p:transition spd="med" advClick="1">
    <p:wipe dir="l"/>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254" tIns="254" rIns="254" bIns="254" rtlCol="0" anchor="ctr">
            <a:normAutofit/>
          </a:bodyPr>
          <a:lstStyle/>
          <a:p>
            <a:pPr indent="0" marL="0">
              <a:buNone/>
            </a:pPr>
            <a:r>
              <a:rPr lang="en-US" sz="2600" b="1" dirty="0">
                <a:solidFill>
                  <a:srgbClr val="3498DB"/>
                </a:solidFill>
                <a:latin typeface="Arial" pitchFamily="34" charset="0"/>
                <a:ea typeface="Arial" pitchFamily="34" charset="-122"/>
                <a:cs typeface="Arial" pitchFamily="34" charset="-120"/>
              </a:rPr>
              <a:t>First Steps: Printing &amp; Assigning Values</a:t>
            </a:r>
            <a:endParaRPr lang="en-US" sz="2600" dirty="0"/>
          </a:p>
        </p:txBody>
      </p:sp>
      <p:sp>
        <p:nvSpPr>
          <p:cNvPr id="3" name="Text 1"/>
          <p:cNvSpPr/>
          <p:nvPr/>
        </p:nvSpPr>
        <p:spPr>
          <a:xfrm>
            <a:off x="594360" y="1115568"/>
            <a:ext cx="2194560" cy="228600"/>
          </a:xfrm>
          <a:prstGeom prst="rect">
            <a:avLst/>
          </a:prstGeom>
          <a:noFill/>
          <a:ln/>
        </p:spPr>
        <p:txBody>
          <a:bodyPr wrap="square" lIns="0" tIns="0" rIns="0" bIns="0" rtlCol="0" anchor="ctr"/>
          <a:lstStyle/>
          <a:p>
            <a:pPr indent="0" marL="0">
              <a:buNone/>
            </a:pPr>
            <a:r>
              <a:rPr lang="en-US" sz="1200" b="1" dirty="0">
                <a:solidFill>
                  <a:srgbClr val="E67E22"/>
                </a:solidFill>
              </a:rPr>
              <a:t>Scenario</a:t>
            </a:r>
            <a:endParaRPr lang="en-US" sz="1200" dirty="0"/>
          </a:p>
        </p:txBody>
      </p:sp>
      <p:sp>
        <p:nvSpPr>
          <p:cNvPr id="4" name="Shape 2"/>
          <p:cNvSpPr/>
          <p:nvPr/>
        </p:nvSpPr>
        <p:spPr>
          <a:xfrm>
            <a:off x="594360" y="1389888"/>
            <a:ext cx="7955280" cy="914400"/>
          </a:xfrm>
          <a:prstGeom prst="roundRect">
            <a:avLst>
              <a:gd name="adj" fmla="val 6000"/>
            </a:avLst>
          </a:prstGeom>
          <a:solidFill>
            <a:srgbClr val="FFF7ED"/>
          </a:solidFill>
          <a:ln w="10160">
            <a:solidFill>
              <a:srgbClr val="FED7AA"/>
            </a:solidFill>
            <a:prstDash val="solid"/>
          </a:ln>
        </p:spPr>
      </p:sp>
      <p:sp>
        <p:nvSpPr>
          <p:cNvPr id="5" name="Text 3"/>
          <p:cNvSpPr/>
          <p:nvPr/>
        </p:nvSpPr>
        <p:spPr>
          <a:xfrm>
            <a:off x="749808" y="1536192"/>
            <a:ext cx="7635240" cy="566928"/>
          </a:xfrm>
          <a:prstGeom prst="rect">
            <a:avLst/>
          </a:prstGeom>
          <a:noFill/>
          <a:ln/>
        </p:spPr>
        <p:txBody>
          <a:bodyPr wrap="square" lIns="1016" tIns="1016" rIns="1016" bIns="1016" rtlCol="0" anchor="ctr">
            <a:normAutofit/>
          </a:bodyPr>
          <a:lstStyle/>
          <a:p>
            <a:pPr indent="0" marL="0">
              <a:buNone/>
            </a:pPr>
            <a:r>
              <a:rPr lang="en-US" sz="1400" dirty="0">
                <a:solidFill>
                  <a:srgbClr val="2C3E50"/>
                </a:solidFill>
                <a:latin typeface="Verdana" pitchFamily="34" charset="0"/>
                <a:ea typeface="Verdana" pitchFamily="34" charset="-122"/>
                <a:cs typeface="Verdana" pitchFamily="34" charset="-120"/>
              </a:rPr>
              <a:t>Think of Python as your digital assistant. You can tell it to speak (print output) or remember specific pieces of information by giving them a name (assigning values to variables).</a:t>
            </a:r>
            <a:endParaRPr lang="en-US" sz="1400" dirty="0"/>
          </a:p>
        </p:txBody>
      </p:sp>
      <p:sp>
        <p:nvSpPr>
          <p:cNvPr id="6" name="Text 4"/>
          <p:cNvSpPr/>
          <p:nvPr/>
        </p:nvSpPr>
        <p:spPr>
          <a:xfrm>
            <a:off x="594360" y="2514600"/>
            <a:ext cx="2194560" cy="228600"/>
          </a:xfrm>
          <a:prstGeom prst="rect">
            <a:avLst/>
          </a:prstGeom>
          <a:noFill/>
          <a:ln/>
        </p:spPr>
        <p:txBody>
          <a:bodyPr wrap="square" lIns="0" tIns="0" rIns="0" bIns="0" rtlCol="0" anchor="ctr"/>
          <a:lstStyle/>
          <a:p>
            <a:pPr indent="0" marL="0">
              <a:buNone/>
            </a:pPr>
            <a:r>
              <a:rPr lang="en-US" sz="1200" b="1" dirty="0">
                <a:solidFill>
                  <a:srgbClr val="E67E22"/>
                </a:solidFill>
              </a:rPr>
              <a:t>Steps</a:t>
            </a:r>
            <a:endParaRPr lang="en-US" sz="1200" dirty="0"/>
          </a:p>
        </p:txBody>
      </p:sp>
      <p:sp>
        <p:nvSpPr>
          <p:cNvPr id="7" name="Text 5"/>
          <p:cNvSpPr/>
          <p:nvPr/>
        </p:nvSpPr>
        <p:spPr>
          <a:xfrm>
            <a:off x="713232" y="2807208"/>
            <a:ext cx="3886200" cy="713232"/>
          </a:xfrm>
          <a:prstGeom prst="rect">
            <a:avLst/>
          </a:prstGeom>
          <a:noFill/>
          <a:ln/>
        </p:spPr>
        <p:txBody>
          <a:bodyPr wrap="square" lIns="381" tIns="381" rIns="381" bIns="381" rtlCol="0" anchor="ctr">
            <a:normAutofit/>
          </a:bodyPr>
          <a:lstStyle/>
          <a:p>
            <a:pPr marL="152400" indent="-152400">
              <a:buSzPct val="100000"/>
              <a:buChar char="•"/>
            </a:pPr>
            <a:r>
              <a:rPr lang="en-US" sz="1100" dirty="0">
                <a:solidFill>
                  <a:srgbClr val="2C3E50"/>
                </a:solidFill>
                <a:latin typeface="Verdana" pitchFamily="34" charset="0"/>
                <a:ea typeface="Verdana" pitchFamily="34" charset="-122"/>
                <a:cs typeface="Verdana" pitchFamily="34" charset="-120"/>
              </a:rPr>
              <a:t>**1. Printing Output:** Use the `print()` function to display text or values on the console. Example: `print("Hello, Grade 12!")`</a:t>
            </a:r>
            <a:endParaRPr lang="en-US" sz="1100" dirty="0"/>
          </a:p>
        </p:txBody>
      </p:sp>
      <p:sp>
        <p:nvSpPr>
          <p:cNvPr id="8" name="Shape 6"/>
          <p:cNvSpPr/>
          <p:nvPr/>
        </p:nvSpPr>
        <p:spPr>
          <a:xfrm>
            <a:off x="4892040" y="2761488"/>
            <a:ext cx="3657600" cy="1353312"/>
          </a:xfrm>
          <a:prstGeom prst="roundRect">
            <a:avLst>
              <a:gd name="adj" fmla="val 4054"/>
            </a:avLst>
          </a:prstGeom>
          <a:solidFill>
            <a:srgbClr val="F0FDF4"/>
          </a:solidFill>
          <a:ln w="10160">
            <a:solidFill>
              <a:srgbClr val="BBF7D0"/>
            </a:solidFill>
            <a:prstDash val="solid"/>
          </a:ln>
        </p:spPr>
      </p:sp>
      <p:sp>
        <p:nvSpPr>
          <p:cNvPr id="9" name="Text 7"/>
          <p:cNvSpPr/>
          <p:nvPr/>
        </p:nvSpPr>
        <p:spPr>
          <a:xfrm>
            <a:off x="5074920" y="2907792"/>
            <a:ext cx="3291840" cy="201168"/>
          </a:xfrm>
          <a:prstGeom prst="rect">
            <a:avLst/>
          </a:prstGeom>
          <a:noFill/>
          <a:ln/>
        </p:spPr>
        <p:txBody>
          <a:bodyPr wrap="square" lIns="0" tIns="0" rIns="0" bIns="0" rtlCol="0" anchor="ctr"/>
          <a:lstStyle/>
          <a:p>
            <a:pPr indent="0" marL="0">
              <a:buNone/>
            </a:pPr>
            <a:r>
              <a:rPr lang="en-US" sz="1100" b="1" dirty="0">
                <a:solidFill>
                  <a:srgbClr val="27AE60"/>
                </a:solidFill>
              </a:rPr>
              <a:t>Key takeaway</a:t>
            </a:r>
            <a:endParaRPr lang="en-US" sz="1100" dirty="0"/>
          </a:p>
        </p:txBody>
      </p:sp>
      <p:sp>
        <p:nvSpPr>
          <p:cNvPr id="10" name="Text 8"/>
          <p:cNvSpPr/>
          <p:nvPr/>
        </p:nvSpPr>
        <p:spPr>
          <a:xfrm>
            <a:off x="5029200" y="3182112"/>
            <a:ext cx="3337560" cy="658368"/>
          </a:xfrm>
          <a:prstGeom prst="rect">
            <a:avLst/>
          </a:prstGeom>
          <a:noFill/>
          <a:ln/>
        </p:spPr>
        <p:txBody>
          <a:bodyPr wrap="square" lIns="1016" tIns="1016" rIns="1016" bIns="1016" rtlCol="0" anchor="ctr">
            <a:normAutofit/>
          </a:bodyPr>
          <a:lstStyle/>
          <a:p>
            <a:pPr indent="0" marL="0">
              <a:buNone/>
            </a:pPr>
            <a:r>
              <a:rPr lang="en-US" sz="1200" dirty="0">
                <a:solidFill>
                  <a:srgbClr val="2C3E50"/>
                </a:solidFill>
                <a:latin typeface="Verdana" pitchFamily="34" charset="0"/>
                <a:ea typeface="Verdana" pitchFamily="34" charset="-122"/>
                <a:cs typeface="Verdana" pitchFamily="34" charset="-120"/>
              </a:rPr>
              <a:t>The `print()` function is crucial for program output, and variables are fundamental for storing and referencing data within your code, making it dynamic and reusable.</a:t>
            </a:r>
            <a:endParaRPr lang="en-US" sz="1200" dirty="0"/>
          </a:p>
        </p:txBody>
      </p:sp>
      <p:sp>
        <p:nvSpPr>
          <p:cNvPr id="11" name="Shape 9"/>
          <p:cNvSpPr/>
          <p:nvPr/>
        </p:nvSpPr>
        <p:spPr>
          <a:xfrm>
            <a:off x="502920" y="4718304"/>
            <a:ext cx="8138160" cy="0"/>
          </a:xfrm>
          <a:prstGeom prst="line">
            <a:avLst/>
          </a:prstGeom>
          <a:noFill/>
          <a:ln w="7620">
            <a:solidFill>
              <a:srgbClr val="D8DEE9"/>
            </a:solidFill>
            <a:prstDash val="solid"/>
          </a:ln>
        </p:spPr>
      </p:sp>
      <p:sp>
        <p:nvSpPr>
          <p:cNvPr id="12" name="Text 10"/>
          <p:cNvSpPr/>
          <p:nvPr/>
        </p:nvSpPr>
        <p:spPr>
          <a:xfrm>
            <a:off x="502920" y="4800600"/>
            <a:ext cx="6629400" cy="201168"/>
          </a:xfrm>
          <a:prstGeom prst="rect">
            <a:avLst/>
          </a:prstGeom>
          <a:noFill/>
          <a:ln/>
        </p:spPr>
        <p:txBody>
          <a:bodyPr wrap="square" lIns="0" tIns="0" rIns="0" bIns="0" rtlCol="0" anchor="ctr"/>
          <a:lstStyle/>
          <a:p>
            <a:pPr indent="0" marL="0">
              <a:buNone/>
            </a:pPr>
            <a:r>
              <a:rPr lang="en-US" sz="800" dirty="0">
                <a:solidFill>
                  <a:srgbClr val="64748B"/>
                </a:solidFill>
              </a:rPr>
              <a:t>Programming Basics (Python)</a:t>
            </a:r>
            <a:endParaRPr lang="en-US" sz="800" dirty="0"/>
          </a:p>
        </p:txBody>
      </p:sp>
      <p:sp>
        <p:nvSpPr>
          <p:cNvPr id="13" name="Text 11"/>
          <p:cNvSpPr/>
          <p:nvPr/>
        </p:nvSpPr>
        <p:spPr>
          <a:xfrm>
            <a:off x="7818120" y="4800600"/>
            <a:ext cx="822960" cy="201168"/>
          </a:xfrm>
          <a:prstGeom prst="rect">
            <a:avLst/>
          </a:prstGeom>
          <a:noFill/>
          <a:ln/>
        </p:spPr>
        <p:txBody>
          <a:bodyPr wrap="square" lIns="0" tIns="0" rIns="0" bIns="0" rtlCol="0" anchor="ctr"/>
          <a:lstStyle/>
          <a:p>
            <a:pPr algn="r" indent="0" marL="0">
              <a:buNone/>
            </a:pPr>
            <a:r>
              <a:rPr lang="en-US" sz="800" dirty="0">
                <a:solidFill>
                  <a:srgbClr val="64748B"/>
                </a:solidFill>
              </a:rPr>
              <a:t>3</a:t>
            </a:r>
            <a:endParaRPr lang="en-US" sz="800" dirty="0"/>
          </a:p>
        </p:txBody>
      </p:sp>
    </p:spTree>
  </p:cSld>
  <p:transition spd="med" advClick="1">
    <p:push dir="l"/>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254" tIns="254" rIns="254" bIns="254" rtlCol="0" anchor="ctr">
            <a:normAutofit/>
          </a:bodyPr>
          <a:lstStyle/>
          <a:p>
            <a:pPr indent="0" marL="0">
              <a:buNone/>
            </a:pPr>
            <a:r>
              <a:rPr lang="en-US" sz="2600" b="1" dirty="0">
                <a:solidFill>
                  <a:srgbClr val="2D3E50"/>
                </a:solidFill>
                <a:latin typeface="Arial" pitchFamily="34" charset="0"/>
                <a:ea typeface="Arial" pitchFamily="34" charset="-122"/>
                <a:cs typeface="Arial" pitchFamily="34" charset="-120"/>
              </a:rPr>
              <a:t>Control Flow: Conditional Statements (If/Else)</a:t>
            </a:r>
            <a:endParaRPr lang="en-US" sz="2600" dirty="0"/>
          </a:p>
        </p:txBody>
      </p:sp>
      <p:sp>
        <p:nvSpPr>
          <p:cNvPr id="3" name="Text 1"/>
          <p:cNvSpPr/>
          <p:nvPr/>
        </p:nvSpPr>
        <p:spPr>
          <a:xfrm>
            <a:off x="685800" y="1115568"/>
            <a:ext cx="7863840" cy="709907"/>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Conditional statements allow programs to make decisions and execute different code blocks based on whether certain conditions a...</a:t>
            </a:r>
            <a:endParaRPr lang="en-US" sz="1400" dirty="0"/>
          </a:p>
        </p:txBody>
      </p:sp>
      <p:sp>
        <p:nvSpPr>
          <p:cNvPr id="4" name="Text 2"/>
          <p:cNvSpPr/>
          <p:nvPr/>
        </p:nvSpPr>
        <p:spPr>
          <a:xfrm>
            <a:off x="685800" y="1916915"/>
            <a:ext cx="7863840" cy="418961"/>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The `if` statement evaluates a condition; if true, the indented code block following it is executed.</a:t>
            </a:r>
            <a:endParaRPr lang="en-US" sz="1400" dirty="0"/>
          </a:p>
        </p:txBody>
      </p:sp>
      <p:sp>
        <p:nvSpPr>
          <p:cNvPr id="5" name="Text 3"/>
          <p:cNvSpPr/>
          <p:nvPr/>
        </p:nvSpPr>
        <p:spPr>
          <a:xfrm>
            <a:off x="685800" y="2427316"/>
            <a:ext cx="7863840" cy="709907"/>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2C3E50"/>
                </a:solidFill>
                <a:latin typeface="Verdana" pitchFamily="34" charset="0"/>
                <a:ea typeface="Verdana" pitchFamily="34" charset="-122"/>
                <a:cs typeface="Verdana" pitchFamily="34" charset="-120"/>
              </a:rPr>
              <a:t>The `elif` (else if) statement provides an alternative condition to check if the preceding `if` or `elif` conditions were false.</a:t>
            </a:r>
            <a:endParaRPr lang="en-US" sz="1400" dirty="0"/>
          </a:p>
        </p:txBody>
      </p:sp>
      <p:sp>
        <p:nvSpPr>
          <p:cNvPr id="6" name="Shape 4"/>
          <p:cNvSpPr/>
          <p:nvPr/>
        </p:nvSpPr>
        <p:spPr>
          <a:xfrm>
            <a:off x="594360" y="3703320"/>
            <a:ext cx="7955280" cy="777240"/>
          </a:xfrm>
          <a:prstGeom prst="roundRect">
            <a:avLst>
              <a:gd name="adj" fmla="val 7059"/>
            </a:avLst>
          </a:prstGeom>
          <a:solidFill>
            <a:srgbClr val="EEF6FF"/>
          </a:solidFill>
          <a:ln w="10160">
            <a:solidFill>
              <a:srgbClr val="B7D7F4"/>
            </a:solidFill>
            <a:prstDash val="solid"/>
          </a:ln>
        </p:spPr>
      </p:sp>
      <p:sp>
        <p:nvSpPr>
          <p:cNvPr id="7" name="Text 5"/>
          <p:cNvSpPr/>
          <p:nvPr/>
        </p:nvSpPr>
        <p:spPr>
          <a:xfrm>
            <a:off x="749808" y="3803904"/>
            <a:ext cx="7635240" cy="530352"/>
          </a:xfrm>
          <a:prstGeom prst="rect">
            <a:avLst/>
          </a:prstGeom>
          <a:noFill/>
          <a:ln/>
        </p:spPr>
        <p:txBody>
          <a:bodyPr wrap="square" lIns="1016" tIns="1016" rIns="1016" bIns="1016" rtlCol="0" anchor="ctr">
            <a:normAutofit/>
          </a:bodyPr>
          <a:lstStyle/>
          <a:p>
            <a:pPr indent="0" marL="0">
              <a:buNone/>
            </a:pPr>
            <a:r>
              <a:rPr lang="en-US" sz="1200" dirty="0">
                <a:solidFill>
                  <a:srgbClr val="2D3E50"/>
                </a:solidFill>
                <a:latin typeface="Verdana" pitchFamily="34" charset="0"/>
                <a:ea typeface="Verdana" pitchFamily="34" charset="-122"/>
                <a:cs typeface="Verdana" pitchFamily="34" charset="-120"/>
              </a:rPr>
              <a:t>Control flow refers to the order in which a program's instructions are executed. Conditional statements like `if`, `elif`, and `else` are fundamental control flow tools, enabling programs to dynamically respond to different situations by choosing which code paths to follow based on specific criteria. This decision-making capability is crucial for creating robust and interactive applications.</a:t>
            </a:r>
            <a:endParaRPr lang="en-US" sz="1200" dirty="0"/>
          </a:p>
        </p:txBody>
      </p:sp>
      <p:sp>
        <p:nvSpPr>
          <p:cNvPr id="8" name="Shape 6"/>
          <p:cNvSpPr/>
          <p:nvPr/>
        </p:nvSpPr>
        <p:spPr>
          <a:xfrm>
            <a:off x="502920" y="4718304"/>
            <a:ext cx="8138160" cy="0"/>
          </a:xfrm>
          <a:prstGeom prst="line">
            <a:avLst/>
          </a:prstGeom>
          <a:noFill/>
          <a:ln w="7620">
            <a:solidFill>
              <a:srgbClr val="D8DEE9"/>
            </a:solidFill>
            <a:prstDash val="solid"/>
          </a:ln>
        </p:spPr>
      </p:sp>
      <p:sp>
        <p:nvSpPr>
          <p:cNvPr id="9" name="Text 7"/>
          <p:cNvSpPr/>
          <p:nvPr/>
        </p:nvSpPr>
        <p:spPr>
          <a:xfrm>
            <a:off x="502920" y="4800600"/>
            <a:ext cx="6629400" cy="201168"/>
          </a:xfrm>
          <a:prstGeom prst="rect">
            <a:avLst/>
          </a:prstGeom>
          <a:noFill/>
          <a:ln/>
        </p:spPr>
        <p:txBody>
          <a:bodyPr wrap="square" lIns="0" tIns="0" rIns="0" bIns="0" rtlCol="0" anchor="ctr"/>
          <a:lstStyle/>
          <a:p>
            <a:pPr indent="0" marL="0">
              <a:buNone/>
            </a:pPr>
            <a:r>
              <a:rPr lang="en-US" sz="800" dirty="0">
                <a:solidFill>
                  <a:srgbClr val="64748B"/>
                </a:solidFill>
              </a:rPr>
              <a:t>Programming Basics (Python)</a:t>
            </a:r>
            <a:endParaRPr lang="en-US" sz="800" dirty="0"/>
          </a:p>
        </p:txBody>
      </p:sp>
      <p:sp>
        <p:nvSpPr>
          <p:cNvPr id="10" name="Text 8"/>
          <p:cNvSpPr/>
          <p:nvPr/>
        </p:nvSpPr>
        <p:spPr>
          <a:xfrm>
            <a:off x="7818120" y="4800600"/>
            <a:ext cx="822960" cy="201168"/>
          </a:xfrm>
          <a:prstGeom prst="rect">
            <a:avLst/>
          </a:prstGeom>
          <a:noFill/>
          <a:ln/>
        </p:spPr>
        <p:txBody>
          <a:bodyPr wrap="square" lIns="0" tIns="0" rIns="0" bIns="0" rtlCol="0" anchor="ctr"/>
          <a:lstStyle/>
          <a:p>
            <a:pPr algn="r" indent="0" marL="0">
              <a:buNone/>
            </a:pPr>
            <a:r>
              <a:rPr lang="en-US" sz="800" dirty="0">
                <a:solidFill>
                  <a:srgbClr val="64748B"/>
                </a:solidFill>
              </a:rPr>
              <a:t>4</a:t>
            </a:r>
            <a:endParaRPr lang="en-US" sz="800" dirty="0"/>
          </a:p>
        </p:txBody>
      </p:sp>
    </p:spTree>
  </p:cSld>
  <p:transition spd="med" advClick="1">
    <p:wipe dir="l"/>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254" tIns="254" rIns="254" bIns="254" rtlCol="0" anchor="ctr">
            <a:normAutofit/>
          </a:bodyPr>
          <a:lstStyle/>
          <a:p>
            <a:pPr indent="0" marL="0">
              <a:buNone/>
            </a:pPr>
            <a:r>
              <a:rPr lang="en-US" sz="2600" b="1" dirty="0">
                <a:solidFill>
                  <a:srgbClr val="2D3E50"/>
                </a:solidFill>
                <a:latin typeface="Arial" pitchFamily="34" charset="0"/>
                <a:ea typeface="Arial" pitchFamily="34" charset="-122"/>
                <a:cs typeface="Arial" pitchFamily="34" charset="-120"/>
              </a:rPr>
              <a:t>Key Takeaways: Your Programming Journey Begins</a:t>
            </a:r>
            <a:endParaRPr lang="en-US" sz="2600" dirty="0"/>
          </a:p>
        </p:txBody>
      </p:sp>
      <p:sp>
        <p:nvSpPr>
          <p:cNvPr id="3" name="Text 1"/>
          <p:cNvSpPr/>
          <p:nvPr/>
        </p:nvSpPr>
        <p:spPr>
          <a:xfrm>
            <a:off x="685800" y="1097280"/>
            <a:ext cx="7863840" cy="39818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2C3E50"/>
                </a:solidFill>
                <a:latin typeface="Verdana" pitchFamily="34" charset="0"/>
                <a:ea typeface="Verdana" pitchFamily="34" charset="-122"/>
                <a:cs typeface="Verdana" pitchFamily="34" charset="-120"/>
              </a:rPr>
              <a:t>Variables are containers for data; Python handles types dynamically.</a:t>
            </a:r>
            <a:endParaRPr lang="en-US" sz="1300" dirty="0"/>
          </a:p>
        </p:txBody>
      </p:sp>
      <p:sp>
        <p:nvSpPr>
          <p:cNvPr id="4" name="Text 2"/>
          <p:cNvSpPr/>
          <p:nvPr/>
        </p:nvSpPr>
        <p:spPr>
          <a:xfrm>
            <a:off x="685800" y="1586900"/>
            <a:ext cx="7863840" cy="39818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2C3E50"/>
                </a:solidFill>
                <a:latin typeface="Verdana" pitchFamily="34" charset="0"/>
                <a:ea typeface="Verdana" pitchFamily="34" charset="-122"/>
                <a:cs typeface="Verdana" pitchFamily="34" charset="-120"/>
              </a:rPr>
              <a:t>Operators perform calculations and comparisons, fundamental for logic.</a:t>
            </a:r>
            <a:endParaRPr lang="en-US" sz="1300" dirty="0"/>
          </a:p>
        </p:txBody>
      </p:sp>
      <p:sp>
        <p:nvSpPr>
          <p:cNvPr id="5" name="Text 3"/>
          <p:cNvSpPr/>
          <p:nvPr/>
        </p:nvSpPr>
        <p:spPr>
          <a:xfrm>
            <a:off x="685800" y="2076519"/>
            <a:ext cx="7863840" cy="39818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2C3E50"/>
                </a:solidFill>
                <a:latin typeface="Verdana" pitchFamily="34" charset="0"/>
                <a:ea typeface="Verdana" pitchFamily="34" charset="-122"/>
                <a:cs typeface="Verdana" pitchFamily="34" charset="-120"/>
              </a:rPr>
              <a:t>Control flow (if/else, loops) dictates program execution based on conditions and repetition.</a:t>
            </a:r>
            <a:endParaRPr lang="en-US" sz="1300" dirty="0"/>
          </a:p>
        </p:txBody>
      </p:sp>
      <p:sp>
        <p:nvSpPr>
          <p:cNvPr id="6" name="Text 4"/>
          <p:cNvSpPr/>
          <p:nvPr/>
        </p:nvSpPr>
        <p:spPr>
          <a:xfrm>
            <a:off x="685800" y="2566139"/>
            <a:ext cx="7863840" cy="398180"/>
          </a:xfrm>
          <a:prstGeom prst="rect">
            <a:avLst/>
          </a:prstGeom>
          <a:noFill/>
          <a:ln/>
        </p:spPr>
        <p:txBody>
          <a:bodyPr wrap="square" lIns="381" tIns="381" rIns="381" bIns="381" rtlCol="0" anchor="ctr">
            <a:normAutofit/>
          </a:bodyPr>
          <a:lstStyle/>
          <a:p>
            <a:pPr marL="152400" indent="-152400">
              <a:buSzPct val="100000"/>
              <a:buChar char="•"/>
            </a:pPr>
            <a:r>
              <a:rPr lang="en-US" sz="1300" dirty="0">
                <a:solidFill>
                  <a:srgbClr val="2C3E50"/>
                </a:solidFill>
                <a:latin typeface="Verdana" pitchFamily="34" charset="0"/>
                <a:ea typeface="Verdana" pitchFamily="34" charset="-122"/>
                <a:cs typeface="Verdana" pitchFamily="34" charset="-120"/>
              </a:rPr>
              <a:t>Functions encapsulate reusable code, promoting organization and efficiency.</a:t>
            </a:r>
            <a:endParaRPr lang="en-US" sz="1300" dirty="0"/>
          </a:p>
        </p:txBody>
      </p:sp>
      <p:sp>
        <p:nvSpPr>
          <p:cNvPr id="7" name="Shape 5"/>
          <p:cNvSpPr/>
          <p:nvPr/>
        </p:nvSpPr>
        <p:spPr>
          <a:xfrm>
            <a:off x="594360" y="3657600"/>
            <a:ext cx="7955280" cy="804672"/>
          </a:xfrm>
          <a:prstGeom prst="roundRect">
            <a:avLst>
              <a:gd name="adj" fmla="val 6818"/>
            </a:avLst>
          </a:prstGeom>
          <a:solidFill>
            <a:srgbClr val="F0FDF4"/>
          </a:solidFill>
          <a:ln w="10160">
            <a:solidFill>
              <a:srgbClr val="BBF7D0"/>
            </a:solidFill>
            <a:prstDash val="solid"/>
          </a:ln>
        </p:spPr>
      </p:sp>
      <p:sp>
        <p:nvSpPr>
          <p:cNvPr id="8" name="Text 6"/>
          <p:cNvSpPr/>
          <p:nvPr/>
        </p:nvSpPr>
        <p:spPr>
          <a:xfrm>
            <a:off x="777240" y="3785616"/>
            <a:ext cx="2194560" cy="201168"/>
          </a:xfrm>
          <a:prstGeom prst="rect">
            <a:avLst/>
          </a:prstGeom>
          <a:noFill/>
          <a:ln/>
        </p:spPr>
        <p:txBody>
          <a:bodyPr wrap="square" lIns="0" tIns="0" rIns="0" bIns="0" rtlCol="0" anchor="ctr"/>
          <a:lstStyle/>
          <a:p>
            <a:pPr indent="0" marL="0">
              <a:buNone/>
            </a:pPr>
            <a:r>
              <a:rPr lang="en-US" sz="1100" b="1" dirty="0">
                <a:solidFill>
                  <a:srgbClr val="27AE60"/>
                </a:solidFill>
              </a:rPr>
              <a:t>Next steps</a:t>
            </a:r>
            <a:endParaRPr lang="en-US" sz="1100" dirty="0"/>
          </a:p>
        </p:txBody>
      </p:sp>
      <p:sp>
        <p:nvSpPr>
          <p:cNvPr id="9" name="Text 7"/>
          <p:cNvSpPr/>
          <p:nvPr/>
        </p:nvSpPr>
        <p:spPr>
          <a:xfrm>
            <a:off x="777240" y="4041648"/>
            <a:ext cx="7452360" cy="256032"/>
          </a:xfrm>
          <a:prstGeom prst="rect">
            <a:avLst/>
          </a:prstGeom>
          <a:noFill/>
          <a:ln/>
        </p:spPr>
        <p:txBody>
          <a:bodyPr wrap="square" lIns="1016" tIns="1016" rIns="1016" bIns="1016" rtlCol="0" anchor="ctr">
            <a:normAutofit/>
          </a:bodyPr>
          <a:lstStyle/>
          <a:p>
            <a:pPr indent="0" marL="0">
              <a:buNone/>
            </a:pPr>
            <a:r>
              <a:rPr lang="en-US" sz="1100" dirty="0">
                <a:solidFill>
                  <a:srgbClr val="2C3E50"/>
                </a:solidFill>
                <a:latin typeface="Verdana" pitchFamily="34" charset="0"/>
                <a:ea typeface="Verdana" pitchFamily="34" charset="-122"/>
                <a:cs typeface="Verdana" pitchFamily="34" charset="-120"/>
              </a:rPr>
              <a:t>Continue practicing by solving coding challenges, exploring Python's vast libraries, and thinking about how programming can solve real-world problems. The journey has just begun!</a:t>
            </a:r>
            <a:endParaRPr lang="en-US" sz="1100" dirty="0"/>
          </a:p>
        </p:txBody>
      </p:sp>
      <p:sp>
        <p:nvSpPr>
          <p:cNvPr id="10" name="Shape 8"/>
          <p:cNvSpPr/>
          <p:nvPr/>
        </p:nvSpPr>
        <p:spPr>
          <a:xfrm>
            <a:off x="502920" y="4718304"/>
            <a:ext cx="8138160" cy="0"/>
          </a:xfrm>
          <a:prstGeom prst="line">
            <a:avLst/>
          </a:prstGeom>
          <a:noFill/>
          <a:ln w="7620">
            <a:solidFill>
              <a:srgbClr val="D8DEE9"/>
            </a:solidFill>
            <a:prstDash val="solid"/>
          </a:ln>
        </p:spPr>
      </p:sp>
      <p:sp>
        <p:nvSpPr>
          <p:cNvPr id="11" name="Text 9"/>
          <p:cNvSpPr/>
          <p:nvPr/>
        </p:nvSpPr>
        <p:spPr>
          <a:xfrm>
            <a:off x="502920" y="4800600"/>
            <a:ext cx="6629400" cy="201168"/>
          </a:xfrm>
          <a:prstGeom prst="rect">
            <a:avLst/>
          </a:prstGeom>
          <a:noFill/>
          <a:ln/>
        </p:spPr>
        <p:txBody>
          <a:bodyPr wrap="square" lIns="0" tIns="0" rIns="0" bIns="0" rtlCol="0" anchor="ctr"/>
          <a:lstStyle/>
          <a:p>
            <a:pPr indent="0" marL="0">
              <a:buNone/>
            </a:pPr>
            <a:r>
              <a:rPr lang="en-US" sz="800" dirty="0">
                <a:solidFill>
                  <a:srgbClr val="64748B"/>
                </a:solidFill>
              </a:rPr>
              <a:t>Programming Basics (Python)</a:t>
            </a:r>
            <a:endParaRPr lang="en-US" sz="800" dirty="0"/>
          </a:p>
        </p:txBody>
      </p:sp>
      <p:sp>
        <p:nvSpPr>
          <p:cNvPr id="12" name="Text 10"/>
          <p:cNvSpPr/>
          <p:nvPr/>
        </p:nvSpPr>
        <p:spPr>
          <a:xfrm>
            <a:off x="7818120" y="4800600"/>
            <a:ext cx="822960" cy="201168"/>
          </a:xfrm>
          <a:prstGeom prst="rect">
            <a:avLst/>
          </a:prstGeom>
          <a:noFill/>
          <a:ln/>
        </p:spPr>
        <p:txBody>
          <a:bodyPr wrap="square" lIns="0" tIns="0" rIns="0" bIns="0" rtlCol="0" anchor="ctr"/>
          <a:lstStyle/>
          <a:p>
            <a:pPr algn="r" indent="0" marL="0">
              <a:buNone/>
            </a:pPr>
            <a:r>
              <a:rPr lang="en-US" sz="800" dirty="0">
                <a:solidFill>
                  <a:srgbClr val="64748B"/>
                </a:solidFill>
              </a:rPr>
              <a:t>5</a:t>
            </a:r>
            <a:endParaRPr lang="en-US" sz="800" dirty="0"/>
          </a:p>
        </p:txBody>
      </p:sp>
    </p:spTree>
  </p:cSld>
  <p:transition spd="med" advClick="1">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Savra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Basics (Python)</dc:title>
  <dc:subject>Educational presentation</dc:subject>
  <dc:creator>Savra</dc:creator>
  <cp:lastModifiedBy>Savra</cp:lastModifiedBy>
  <cp:revision>1</cp:revision>
  <dcterms:created xsi:type="dcterms:W3CDTF">2026-05-16T06:43:11Z</dcterms:created>
  <dcterms:modified xsi:type="dcterms:W3CDTF">2026-05-16T06:43:11Z</dcterms:modified>
</cp:coreProperties>
</file>